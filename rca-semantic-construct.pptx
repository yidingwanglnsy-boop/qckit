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698480" cy="10972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Microsoft YaHei"/>
              </a:rPr>
              <a:t>QCC 根因确认 · 语义构建项目 (semantic-construct)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108960"/>
            <a:ext cx="10698480" cy="5486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Microsoft YaHei"/>
              </a:rPr>
              <a:t>数据源 · Git 仓库 semantic-construct  |  分支 cherr  |  HEAD e98e221  |  近 30 天 57 条提交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10698480" cy="18288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800" b="1">
                <a:solidFill>
                  <a:srgbClr val="F0ABFC"/>
                </a:solidFill>
                <a:latin typeface="Microsoft YaHei"/>
              </a:rPr>
              <a:t>4 条根因的量化确认结论</a:t>
            </a:r>
          </a:p>
          <a:p>
            <a:pPr algn="l">
              <a:spcBef>
                <a:spcPts val="400"/>
              </a:spcBef>
            </a:pPr>
            <a:r>
              <a:rPr sz="1300" b="1">
                <a:solidFill>
                  <a:srgbClr val="4ADE80"/>
                </a:solidFill>
                <a:latin typeface="Microsoft YaHei"/>
              </a:rPr>
              <a:t>① 文档无强制输出要求  ——  ✅ 成立</a:t>
            </a:r>
          </a:p>
          <a:p>
            <a:pPr algn="l">
              <a:spcBef>
                <a:spcPts val="400"/>
              </a:spcBef>
            </a:pPr>
            <a:r>
              <a:rPr sz="1300" b="1">
                <a:solidFill>
                  <a:srgbClr val="FBBF24"/>
                </a:solidFill>
                <a:latin typeface="Microsoft YaHei"/>
              </a:rPr>
              <a:t>② Agent 上下文缺少统一治理  ——  ⚠️ 部分成立</a:t>
            </a:r>
          </a:p>
          <a:p>
            <a:pPr algn="l">
              <a:spcBef>
                <a:spcPts val="400"/>
              </a:spcBef>
            </a:pPr>
            <a:r>
              <a:rPr sz="1300" b="1">
                <a:solidFill>
                  <a:srgbClr val="4ADE80"/>
                </a:solidFill>
                <a:latin typeface="Microsoft YaHei"/>
              </a:rPr>
              <a:t>③ 模块化拆分规范缺失  ——  ✅ 成立</a:t>
            </a:r>
          </a:p>
          <a:p>
            <a:pPr algn="l">
              <a:spcBef>
                <a:spcPts val="400"/>
              </a:spcBef>
            </a:pPr>
            <a:r>
              <a:rPr sz="1300" b="1">
                <a:solidFill>
                  <a:srgbClr val="4ADE80"/>
                </a:solidFill>
                <a:latin typeface="Microsoft YaHei"/>
              </a:rPr>
              <a:t>④ 关键修改记录无追溯  ——  ✅ 成立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126480"/>
            <a:ext cx="10698480" cy="3657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Microsoft YaHei"/>
              </a:rPr>
              <a:t>生成时间 2026-07-11 13:44  ·  QCKit 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36000" tIns="18000" bIns="18000"/>
          <a:lstStyle/>
          <a:p>
            <a:pPr algn="l"/>
            <a:r>
              <a:rPr sz="1700" b="1">
                <a:solidFill>
                  <a:srgbClr val="FFFFFF"/>
                </a:solidFill>
                <a:latin typeface="Microsoft YaHei"/>
              </a:rPr>
              <a:t>根因确认 · ①   |   文档无强制输出要求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21792"/>
            <a:ext cx="8686800" cy="3200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Microsoft YaHei"/>
              </a:rPr>
              <a:t>确认方法：数据分析 · 提取 Git 提交记录，交叉比对文档覆盖率与返工率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585655" y="658368"/>
            <a:ext cx="2377440" cy="329184"/>
          </a:xfrm>
          <a:prstGeom prst="roundRect">
            <a:avLst/>
          </a:prstGeom>
          <a:solidFill>
            <a:srgbClr val="16A34A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确认结论：成立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1143000"/>
            <a:ext cx="2651760" cy="1051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280160"/>
            <a:ext cx="2651760" cy="502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2600" b="1">
                <a:solidFill>
                  <a:srgbClr val="DC2626"/>
                </a:solidFill>
                <a:latin typeface="Microsoft YaHei"/>
              </a:rPr>
              <a:t>11.7%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783080"/>
            <a:ext cx="2651760" cy="3200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Microsoft YaHei"/>
              </a:rPr>
              <a:t>近 77 条提交中提及文档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08960" y="1143000"/>
            <a:ext cx="2651760" cy="1051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08960" y="1280160"/>
            <a:ext cx="2651760" cy="502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2600" b="1">
                <a:solidFill>
                  <a:srgbClr val="DC2626"/>
                </a:solidFill>
                <a:latin typeface="Microsoft YaHei"/>
              </a:rPr>
              <a:t>1 / 381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1783080"/>
            <a:ext cx="2651760" cy="3200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Microsoft YaHei"/>
              </a:rPr>
              <a:t>模块级 README / Py 文件数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97880" y="1143000"/>
            <a:ext cx="2651760" cy="1051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7880" y="1280160"/>
            <a:ext cx="2651760" cy="502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2600" b="1">
                <a:solidFill>
                  <a:srgbClr val="F59E0B"/>
                </a:solidFill>
                <a:latin typeface="Microsoft YaHei"/>
              </a:rPr>
              <a:t>13.0%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7880" y="1783080"/>
            <a:ext cx="2651760" cy="3200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Microsoft YaHei"/>
              </a:rPr>
              <a:t>含 fix/修复/漏 关键词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0" y="1143000"/>
            <a:ext cx="2651760" cy="1051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0" y="1280160"/>
            <a:ext cx="2651760" cy="502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2600" b="1">
                <a:solidFill>
                  <a:srgbClr val="94A3B8"/>
                </a:solidFill>
                <a:latin typeface="Microsoft YaHei"/>
              </a:rPr>
              <a:t>42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1783080"/>
            <a:ext cx="2651760" cy="3200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Microsoft YaHei"/>
              </a:rPr>
              <a:t>docs/ 目录总文件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2331720"/>
            <a:ext cx="685800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36000" tIns="137160" bIns="18000"/>
          <a:lstStyle/>
          <a:p>
            <a:pPr algn="l"/>
            <a:r>
              <a:rPr sz="1300" b="1">
                <a:solidFill>
                  <a:srgbClr val="0F172A"/>
                </a:solidFill>
                <a:latin typeface="Microsoft YaHei"/>
              </a:rPr>
              <a:t>📊 关键指标可视化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2788920"/>
            <a:ext cx="164592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1">
                <a:solidFill>
                  <a:srgbClr val="1E293B"/>
                </a:solidFill>
                <a:latin typeface="Microsoft YaHei"/>
              </a:rPr>
              <a:t>文档提及率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48840" y="2816352"/>
            <a:ext cx="438637" cy="21945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0" y="2770632"/>
            <a:ext cx="100584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1">
                <a:solidFill>
                  <a:srgbClr val="334155"/>
                </a:solidFill>
                <a:latin typeface="Microsoft YaHei"/>
              </a:rPr>
              <a:t>9/77 · 11.7%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3246120"/>
            <a:ext cx="164592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1">
                <a:solidFill>
                  <a:srgbClr val="1E293B"/>
                </a:solidFill>
                <a:latin typeface="Microsoft YaHei"/>
              </a:rPr>
              <a:t>疑似返工率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48840" y="3273552"/>
            <a:ext cx="487375" cy="2194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0" y="3227832"/>
            <a:ext cx="100584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1">
                <a:solidFill>
                  <a:srgbClr val="334155"/>
                </a:solidFill>
                <a:latin typeface="Microsoft YaHei"/>
              </a:rPr>
              <a:t>10/77 · 13.0%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3703320"/>
            <a:ext cx="164592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1">
                <a:solidFill>
                  <a:srgbClr val="1E293B"/>
                </a:solidFill>
                <a:latin typeface="Microsoft YaHei"/>
              </a:rPr>
              <a:t>模块级 README 覆盖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48840" y="3730752"/>
            <a:ext cx="9840" cy="21945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0" y="3685032"/>
            <a:ext cx="100584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1">
                <a:solidFill>
                  <a:srgbClr val="334155"/>
                </a:solidFill>
                <a:latin typeface="Microsoft YaHei"/>
              </a:rPr>
              <a:t>1/381 · &lt;1%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4160520"/>
            <a:ext cx="164592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1">
                <a:solidFill>
                  <a:srgbClr val="1E293B"/>
                </a:solidFill>
                <a:latin typeface="Microsoft YaHei"/>
              </a:rPr>
              <a:t>docs/ 目录文件占比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148840" y="4187952"/>
            <a:ext cx="372245" cy="2194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0" y="4142232"/>
            <a:ext cx="100584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1">
                <a:solidFill>
                  <a:srgbClr val="334155"/>
                </a:solidFill>
                <a:latin typeface="Microsoft YaHei"/>
              </a:rPr>
              <a:t>42/423 · ≈10%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60920" y="2331720"/>
            <a:ext cx="4480560" cy="3566160"/>
          </a:xfrm>
          <a:prstGeom prst="roundRect">
            <a:avLst/>
          </a:prstGeom>
          <a:solidFill>
            <a:srgbClr val="FEF2F2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36000" tIns="182880" bIns="18000"/>
          <a:lstStyle/>
          <a:p>
            <a:pPr algn="l"/>
            <a:r>
              <a:rPr sz="1300" b="1">
                <a:solidFill>
                  <a:srgbClr val="991B1B"/>
                </a:solidFill>
                <a:latin typeface="Microsoft YaHei"/>
              </a:rPr>
              <a:t>🎯 确认结论 · 成立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991B1B"/>
                </a:solidFill>
                <a:latin typeface="Microsoft YaHei"/>
              </a:rPr>
              <a:t>1. 近 77 条提交中仅 11.7% 涉及文档,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374151"/>
                </a:solidFill>
                <a:latin typeface="Microsoft YaHei"/>
              </a:rPr>
              <a:t>   而返工/修复类占比 13.0%, 呈负相关。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991B1B"/>
                </a:solidFill>
                <a:latin typeface="Microsoft YaHei"/>
              </a:rPr>
              <a:t>2. src/ 下 381 个 Py 文件, 仅 1 个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374151"/>
                </a:solidFill>
                <a:latin typeface="Microsoft YaHei"/>
              </a:rPr>
              <a:t>   模块级 README, 说明无强制约束。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374151"/>
                </a:solidFill>
                <a:latin typeface="Microsoft YaHei"/>
              </a:rPr>
              <a:t>3. 无 pre-commit 钩子校验文档输出。</a:t>
            </a:r>
          </a:p>
          <a:p>
            <a:pPr algn="l">
              <a:spcBef>
                <a:spcPts val="400"/>
              </a:spcBef>
            </a:pPr>
            <a:r>
              <a:rPr sz="600" b="0">
                <a:solidFill>
                  <a:srgbClr val="374151"/>
                </a:solidFill>
                <a:latin typeface="Microsoft YaHei"/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200" b="1">
                <a:solidFill>
                  <a:srgbClr val="991B1B"/>
                </a:solidFill>
                <a:latin typeface="Microsoft YaHei"/>
              </a:rPr>
              <a:t>💡 建议对策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7F1D1D"/>
                </a:solidFill>
                <a:latin typeface="Microsoft YaHei"/>
              </a:rPr>
              <a:t>• 关键 PR 强制附带 CHANGELOG/README 修改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7F1D1D"/>
                </a:solidFill>
                <a:latin typeface="Microsoft YaHei"/>
              </a:rPr>
              <a:t>• pre-commit 钩子: 检查 src 与 docs 同步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7F1D1D"/>
                </a:solidFill>
                <a:latin typeface="Microsoft YaHei"/>
              </a:rPr>
              <a:t>• 建立模块级 README 模板, 每包必备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0040" y="6035040"/>
            <a:ext cx="11521440" cy="5943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36000" tIns="91440" bIns="18000"/>
          <a:lstStyle/>
          <a:p>
            <a:pPr algn="l"/>
            <a:r>
              <a:rPr sz="900" b="0">
                <a:solidFill>
                  <a:srgbClr val="475569"/>
                </a:solidFill>
                <a:latin typeface="Microsoft YaHei"/>
              </a:rPr>
              <a:t>📎 证据: git log -n 77 | 关键词'doc|README|文档|注释|说明' 命中 9 条 · 'fix|修复|漏|返工|忘' 命中 10 条 · src 下模块级 README 文件 = 1 个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36000" tIns="18000" bIns="18000"/>
          <a:lstStyle/>
          <a:p>
            <a:pPr algn="l"/>
            <a:r>
              <a:rPr sz="1700" b="1">
                <a:solidFill>
                  <a:srgbClr val="FFFFFF"/>
                </a:solidFill>
                <a:latin typeface="Microsoft YaHei"/>
              </a:rPr>
              <a:t>根因确认 · ②   |   Agent 上下文缺少统一治理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21792"/>
            <a:ext cx="8686800" cy="3200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Microsoft YaHei"/>
              </a:rPr>
              <a:t>确认方法：试验对比 · 检查上下文集中管理模块 vs 散落硬编码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585655" y="658368"/>
            <a:ext cx="2377440" cy="329184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确认结论：部分成立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1143000"/>
            <a:ext cx="2651760" cy="1051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280160"/>
            <a:ext cx="2651760" cy="502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2600" b="1">
                <a:solidFill>
                  <a:srgbClr val="F59E0B"/>
                </a:solidFill>
                <a:latin typeface="Microsoft YaHei"/>
              </a:rPr>
              <a:t>72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783080"/>
            <a:ext cx="2651760" cy="3200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Microsoft YaHei"/>
              </a:rPr>
              <a:t>涉及 context/prompt/agent 的文件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08960" y="1143000"/>
            <a:ext cx="2651760" cy="1051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08960" y="1280160"/>
            <a:ext cx="2651760" cy="502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2600" b="1">
                <a:solidFill>
                  <a:srgbClr val="3B82F6"/>
                </a:solidFill>
                <a:latin typeface="Microsoft YaHei"/>
              </a:rPr>
              <a:t>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1783080"/>
            <a:ext cx="2651760" cy="3200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Microsoft YaHei"/>
              </a:rPr>
              <a:t>疑似集中管理模块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97880" y="1143000"/>
            <a:ext cx="2651760" cy="1051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7880" y="1280160"/>
            <a:ext cx="2651760" cy="502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2600" b="1">
                <a:solidFill>
                  <a:srgbClr val="16A34A"/>
                </a:solidFill>
                <a:latin typeface="Microsoft YaHe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7880" y="1783080"/>
            <a:ext cx="2651760" cy="3200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Microsoft YaHei"/>
              </a:rPr>
              <a:t>CLAUDE.md 规范文件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0" y="1143000"/>
            <a:ext cx="2651760" cy="1051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0" y="1280160"/>
            <a:ext cx="2651760" cy="502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2600" b="1">
                <a:solidFill>
                  <a:srgbClr val="16A34A"/>
                </a:solidFill>
                <a:latin typeface="Microsoft YaHe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1783080"/>
            <a:ext cx="2651760" cy="3200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Microsoft YaHei"/>
              </a:rPr>
              <a:t>.claude/ 上下文目录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2331720"/>
            <a:ext cx="685800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36000" tIns="137160" bIns="18000"/>
          <a:lstStyle/>
          <a:p>
            <a:pPr algn="l"/>
            <a:r>
              <a:rPr sz="1300" b="1">
                <a:solidFill>
                  <a:srgbClr val="0F172A"/>
                </a:solidFill>
                <a:latin typeface="Microsoft YaHei"/>
              </a:rPr>
              <a:t>📋 现状扫描</a:t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065F46"/>
                </a:solidFill>
                <a:latin typeface="Microsoft YaHei"/>
              </a:rPr>
              <a:t>✅ 已具备的部分: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065F46"/>
                </a:solidFill>
                <a:latin typeface="Microsoft YaHei"/>
              </a:rPr>
              <a:t>  • CLAUDE.md 项目级规范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065F46"/>
                </a:solidFill>
                <a:latin typeface="Microsoft YaHei"/>
              </a:rPr>
              <a:t>  • .claude/ 目录集中 Agent 指令与技能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065F46"/>
                </a:solidFill>
                <a:latin typeface="Microsoft YaHei"/>
              </a:rPr>
              <a:t>  • prompts.py 等命名规范化的 prompt 集中文件</a:t>
            </a:r>
          </a:p>
          <a:p>
            <a:pPr algn="l">
              <a:spcBef>
                <a:spcPts val="400"/>
              </a:spcBef>
            </a:pPr>
            <a:r>
              <a:rPr sz="600" b="0">
                <a:solidFill>
                  <a:srgbClr val="374151"/>
                </a:solidFill>
                <a:latin typeface="Microsoft YaHei"/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991B1B"/>
                </a:solidFill>
                <a:latin typeface="Microsoft YaHei"/>
              </a:rPr>
              <a:t>❌ 缺失/薄弱的部分: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991B1B"/>
                </a:solidFill>
                <a:latin typeface="Microsoft YaHei"/>
              </a:rPr>
              <a:t>  • 涉及 context/prompt/agent 的文件多达 72 个,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991B1B"/>
                </a:solidFill>
                <a:latin typeface="Microsoft YaHei"/>
              </a:rPr>
              <a:t>    上下文加载路径未汇集到统一入口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991B1B"/>
                </a:solidFill>
                <a:latin typeface="Microsoft YaHei"/>
              </a:rPr>
              <a:t>  • 无 ContextManager / PromptRegistry 类型的核心枢纽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991B1B"/>
                </a:solidFill>
                <a:latin typeface="Microsoft YaHei"/>
              </a:rPr>
              <a:t>  • 疑似集中模块散落在 config/ 与 metadata_enhancer/ 两处</a:t>
            </a:r>
          </a:p>
          <a:p>
            <a:pPr algn="l">
              <a:spcBef>
                <a:spcPts val="400"/>
              </a:spcBef>
            </a:pPr>
            <a:r>
              <a:rPr sz="400" b="0">
                <a:solidFill>
                  <a:srgbClr val="374151"/>
                </a:solidFill>
                <a:latin typeface="Microsoft YaHei"/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000" b="1">
                <a:solidFill>
                  <a:srgbClr val="1E40AF"/>
                </a:solidFill>
                <a:latin typeface="Microsoft YaHei"/>
              </a:rPr>
              <a:t>🔍 已识别的候选集中模块:</a:t>
            </a:r>
          </a:p>
          <a:p>
            <a:pPr algn="l">
              <a:spcBef>
                <a:spcPts val="400"/>
              </a:spcBef>
            </a:pPr>
            <a:r>
              <a:rPr sz="900" b="0">
                <a:solidFill>
                  <a:srgbClr val="1E40AF"/>
                </a:solidFill>
                <a:latin typeface="Microsoft YaHei"/>
              </a:rPr>
              <a:t>  · src/metavisor/config/udn/__init__.py</a:t>
            </a:r>
          </a:p>
          <a:p>
            <a:pPr algn="l">
              <a:spcBef>
                <a:spcPts val="400"/>
              </a:spcBef>
            </a:pPr>
            <a:r>
              <a:rPr sz="900" b="0">
                <a:solidFill>
                  <a:srgbClr val="1E40AF"/>
                </a:solidFill>
                <a:latin typeface="Microsoft YaHei"/>
              </a:rPr>
              <a:t>  · src/metavisor/config/udnnew/__init__.py</a:t>
            </a:r>
          </a:p>
          <a:p>
            <a:pPr algn="l">
              <a:spcBef>
                <a:spcPts val="400"/>
              </a:spcBef>
            </a:pPr>
            <a:r>
              <a:rPr sz="900" b="0">
                <a:solidFill>
                  <a:srgbClr val="1E40AF"/>
                </a:solidFill>
                <a:latin typeface="Microsoft YaHei"/>
              </a:rPr>
              <a:t>  · src/metavisor/metadata_enhancer/prompts.py</a:t>
            </a:r>
          </a:p>
          <a:p>
            <a:pPr algn="l">
              <a:spcBef>
                <a:spcPts val="400"/>
              </a:spcBef>
            </a:pPr>
            <a:r>
              <a:rPr sz="900" b="0">
                <a:solidFill>
                  <a:srgbClr val="1E40AF"/>
                </a:solidFill>
                <a:latin typeface="Microsoft YaHei"/>
              </a:rPr>
              <a:t>  · src/metavisor/scheduler/config_loader.py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60920" y="2331720"/>
            <a:ext cx="4480560" cy="356616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36000" tIns="182880" bIns="18000"/>
          <a:lstStyle/>
          <a:p>
            <a:pPr algn="l"/>
            <a:r>
              <a:rPr sz="1300" b="1">
                <a:solidFill>
                  <a:srgbClr val="92400E"/>
                </a:solidFill>
                <a:latin typeface="Microsoft YaHei"/>
              </a:rPr>
              <a:t>🎯 确认结论 · 部分成立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92400E"/>
                </a:solidFill>
                <a:latin typeface="Microsoft YaHei"/>
              </a:rPr>
              <a:t>已有 CLAUDE.md + .claude/ 作为顶层治理,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92400E"/>
                </a:solidFill>
                <a:latin typeface="Microsoft YaHei"/>
              </a:rPr>
              <a:t>但代码层缺少 Runtime 上下文治理:</a:t>
            </a:r>
          </a:p>
          <a:p>
            <a:pPr algn="l">
              <a:spcBef>
                <a:spcPts val="400"/>
              </a:spcBef>
            </a:pPr>
            <a:r>
              <a:rPr sz="400" b="0">
                <a:solidFill>
                  <a:srgbClr val="374151"/>
                </a:solidFill>
                <a:latin typeface="Microsoft YaHei"/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92400E"/>
                </a:solidFill>
                <a:latin typeface="Microsoft YaHei"/>
              </a:rPr>
              <a:t>① 上下文加载分散在 18+ 个模块,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92400E"/>
                </a:solidFill>
                <a:latin typeface="Microsoft YaHei"/>
              </a:rPr>
              <a:t>   无统一 ContextManager 枢纽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92400E"/>
                </a:solidFill>
                <a:latin typeface="Microsoft YaHei"/>
              </a:rPr>
              <a:t>② prompt 定义方式不一 (硬编码 + 常量 + 配置)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92400E"/>
                </a:solidFill>
                <a:latin typeface="Microsoft YaHei"/>
              </a:rPr>
              <a:t>③ Agent 之间上下文传递靠隐式约定</a:t>
            </a:r>
          </a:p>
          <a:p>
            <a:pPr algn="l">
              <a:spcBef>
                <a:spcPts val="400"/>
              </a:spcBef>
            </a:pPr>
            <a:r>
              <a:rPr sz="600" b="0">
                <a:solidFill>
                  <a:srgbClr val="374151"/>
                </a:solidFill>
                <a:latin typeface="Microsoft YaHei"/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200" b="1">
                <a:solidFill>
                  <a:srgbClr val="92400E"/>
                </a:solidFill>
                <a:latin typeface="Microsoft YaHei"/>
              </a:rPr>
              <a:t>💡 建议对策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92400E"/>
                </a:solidFill>
                <a:latin typeface="Microsoft YaHei"/>
              </a:rPr>
              <a:t>• 建 ContextRegistry: 统一注册/查找上下文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92400E"/>
                </a:solidFill>
                <a:latin typeface="Microsoft YaHei"/>
              </a:rPr>
              <a:t>• Prompt 集中到 prompts/ 目录, 禁止散落硬编码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92400E"/>
                </a:solidFill>
                <a:latin typeface="Microsoft YaHei"/>
              </a:rPr>
              <a:t>• Agent 上下文加载纳入指标监控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0040" y="6035040"/>
            <a:ext cx="11521440" cy="5943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36000" tIns="91440" bIns="18000"/>
          <a:lstStyle/>
          <a:p>
            <a:pPr algn="l"/>
            <a:r>
              <a:rPr sz="900" b="0">
                <a:solidFill>
                  <a:srgbClr val="475569"/>
                </a:solidFill>
                <a:latin typeface="Microsoft YaHei"/>
              </a:rPr>
              <a:t>📎 证据: git grep 涉及 context/prompt/agent 的文件 72 个, 集中管理模块 18 个（含 __init__.py, __init__.py, prompts.py）· CLAUDE.md 存在 · .claude/ 目录 存在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36000" tIns="18000" bIns="18000"/>
          <a:lstStyle/>
          <a:p>
            <a:pPr algn="l"/>
            <a:r>
              <a:rPr sz="1700" b="1">
                <a:solidFill>
                  <a:srgbClr val="FFFFFF"/>
                </a:solidFill>
                <a:latin typeface="Microsoft YaHei"/>
              </a:rPr>
              <a:t>根因确认 · ③   |   模块化拆分规范缺失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21792"/>
            <a:ext cx="8686800" cy="3200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Microsoft YaHei"/>
              </a:rPr>
              <a:t>确认方法：抽样检验 · 检查 src/ 下模块粒度与巨型文件分布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585655" y="658368"/>
            <a:ext cx="2377440" cy="329184"/>
          </a:xfrm>
          <a:prstGeom prst="roundRect">
            <a:avLst/>
          </a:prstGeom>
          <a:solidFill>
            <a:srgbClr val="16A34A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确认结论：成立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1143000"/>
            <a:ext cx="2651760" cy="1051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280160"/>
            <a:ext cx="2651760" cy="502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2600" b="1">
                <a:solidFill>
                  <a:srgbClr val="DC2626"/>
                </a:solidFill>
                <a:latin typeface="Microsoft YaHei"/>
              </a:rPr>
              <a:t>2,129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783080"/>
            <a:ext cx="2651760" cy="3200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Microsoft YaHei"/>
              </a:rPr>
              <a:t>最大单文件行数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08960" y="1143000"/>
            <a:ext cx="2651760" cy="1051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08960" y="1280160"/>
            <a:ext cx="2651760" cy="502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2600" b="1">
                <a:solidFill>
                  <a:srgbClr val="DC2626"/>
                </a:solidFill>
                <a:latin typeface="Microsoft YaHei"/>
              </a:rPr>
              <a:t>53,636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1783080"/>
            <a:ext cx="2651760" cy="3200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Microsoft YaHei"/>
              </a:rPr>
              <a:t>最大包 LOC (core)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97880" y="1143000"/>
            <a:ext cx="2651760" cy="1051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7880" y="1280160"/>
            <a:ext cx="2651760" cy="502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2600" b="1">
                <a:solidFill>
                  <a:srgbClr val="F59E0B"/>
                </a:solidFill>
                <a:latin typeface="Microsoft YaHei"/>
              </a:rPr>
              <a:t>210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7880" y="1783080"/>
            <a:ext cx="2651760" cy="3200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Microsoft YaHei"/>
              </a:rPr>
              <a:t>该包文件数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0" y="1143000"/>
            <a:ext cx="2651760" cy="1051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0" y="1280160"/>
            <a:ext cx="2651760" cy="502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2600" b="1">
                <a:solidFill>
                  <a:srgbClr val="94A3B8"/>
                </a:solidFill>
                <a:latin typeface="Microsoft YaHei"/>
              </a:rPr>
              <a:t>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1783080"/>
            <a:ext cx="2651760" cy="3200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Microsoft YaHei"/>
              </a:rPr>
              <a:t>src/ 下顶级包数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2331720"/>
            <a:ext cx="685800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36000" tIns="137160" bIns="18000"/>
          <a:lstStyle/>
          <a:p>
            <a:pPr algn="l"/>
            <a:r>
              <a:rPr sz="1300" b="1">
                <a:solidFill>
                  <a:srgbClr val="0F172A"/>
                </a:solidFill>
                <a:latin typeface="Microsoft YaHei"/>
              </a:rPr>
              <a:t>📊 TOP 6 包 LOC 分布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2834640"/>
            <a:ext cx="182880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1">
                <a:solidFill>
                  <a:srgbClr val="1E293B"/>
                </a:solidFill>
                <a:latin typeface="Microsoft YaHei"/>
              </a:rPr>
              <a:t>core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31720" y="2862072"/>
            <a:ext cx="3566160" cy="21945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0" y="2816352"/>
            <a:ext cx="100584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1">
                <a:solidFill>
                  <a:srgbClr val="334155"/>
                </a:solidFill>
                <a:latin typeface="Microsoft YaHei"/>
              </a:rPr>
              <a:t>53,636 行 · max 2129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3291840"/>
            <a:ext cx="182880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1">
                <a:solidFill>
                  <a:srgbClr val="1E293B"/>
                </a:solidFill>
                <a:latin typeface="Microsoft YaHei"/>
              </a:rPr>
              <a:t>adapters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31720" y="3319272"/>
            <a:ext cx="796528" cy="21945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0" y="3273552"/>
            <a:ext cx="100584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1">
                <a:solidFill>
                  <a:srgbClr val="334155"/>
                </a:solidFill>
                <a:latin typeface="Microsoft YaHei"/>
              </a:rPr>
              <a:t>11,980 行 · max 1022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3749040"/>
            <a:ext cx="182880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1">
                <a:solidFill>
                  <a:srgbClr val="1E293B"/>
                </a:solidFill>
                <a:latin typeface="Microsoft YaHei"/>
              </a:rPr>
              <a:t>client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331720" y="3776472"/>
            <a:ext cx="121008" cy="21945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0" y="3730752"/>
            <a:ext cx="100584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1">
                <a:solidFill>
                  <a:srgbClr val="334155"/>
                </a:solidFill>
                <a:latin typeface="Microsoft YaHei"/>
              </a:rPr>
              <a:t>1,820 行 · max 356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4206240"/>
            <a:ext cx="182880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1">
                <a:solidFill>
                  <a:srgbClr val="1E293B"/>
                </a:solidFill>
                <a:latin typeface="Microsoft YaHei"/>
              </a:rPr>
              <a:t>common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331720" y="4233672"/>
            <a:ext cx="68416" cy="21945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0" y="4187952"/>
            <a:ext cx="100584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1">
                <a:solidFill>
                  <a:srgbClr val="334155"/>
                </a:solidFill>
                <a:latin typeface="Microsoft YaHei"/>
              </a:rPr>
              <a:t>1,029 行 · max 416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4663440"/>
            <a:ext cx="182880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1">
                <a:solidFill>
                  <a:srgbClr val="1E293B"/>
                </a:solidFill>
                <a:latin typeface="Microsoft YaHei"/>
              </a:rPr>
              <a:t>metadata_enhancer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331720" y="4690872"/>
            <a:ext cx="61834" cy="21945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0" y="4645152"/>
            <a:ext cx="100584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1">
                <a:solidFill>
                  <a:srgbClr val="334155"/>
                </a:solidFill>
                <a:latin typeface="Microsoft YaHei"/>
              </a:rPr>
              <a:t>930 行 · max 445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5120640"/>
            <a:ext cx="182880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1">
                <a:solidFill>
                  <a:srgbClr val="1E293B"/>
                </a:solidFill>
                <a:latin typeface="Microsoft YaHei"/>
              </a:rPr>
              <a:t>scheduler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331720" y="5148072"/>
            <a:ext cx="50331" cy="21945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0" y="5102352"/>
            <a:ext cx="100584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1">
                <a:solidFill>
                  <a:srgbClr val="334155"/>
                </a:solidFill>
                <a:latin typeface="Microsoft YaHei"/>
              </a:rPr>
              <a:t>757 行 · max 286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60920" y="2331720"/>
            <a:ext cx="4480560" cy="3566160"/>
          </a:xfrm>
          <a:prstGeom prst="roundRect">
            <a:avLst/>
          </a:prstGeom>
          <a:solidFill>
            <a:srgbClr val="FEF2F2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36000" tIns="182880" bIns="18000"/>
          <a:lstStyle/>
          <a:p>
            <a:pPr algn="l"/>
            <a:r>
              <a:rPr sz="1300" b="1">
                <a:solidFill>
                  <a:srgbClr val="991B1B"/>
                </a:solidFill>
                <a:latin typeface="Microsoft YaHei"/>
              </a:rPr>
              <a:t>🎯 确认结论 · 严重</a:t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991B1B"/>
                </a:solidFill>
                <a:latin typeface="Microsoft YaHei"/>
              </a:rPr>
              <a:t>最大单文件 2,129 行, 严重违反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991B1B"/>
                </a:solidFill>
                <a:latin typeface="Microsoft YaHei"/>
              </a:rPr>
              <a:t>单一职责原则 (SRP)。</a:t>
            </a:r>
          </a:p>
          <a:p>
            <a:pPr algn="l">
              <a:spcBef>
                <a:spcPts val="400"/>
              </a:spcBef>
            </a:pPr>
            <a:r>
              <a:rPr sz="400" b="0">
                <a:solidFill>
                  <a:srgbClr val="374151"/>
                </a:solidFill>
                <a:latin typeface="Microsoft YaHei"/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000" b="1">
                <a:solidFill>
                  <a:srgbClr val="991B1B"/>
                </a:solidFill>
                <a:latin typeface="Microsoft YaHei"/>
              </a:rPr>
              <a:t>🔥 TOP 5 巨型文件 (&gt;1000 行):</a:t>
            </a:r>
          </a:p>
          <a:p>
            <a:pPr algn="l">
              <a:spcBef>
                <a:spcPts val="400"/>
              </a:spcBef>
            </a:pPr>
            <a:r>
              <a:rPr sz="800" b="0">
                <a:solidFill>
                  <a:srgbClr val="7F1D1D"/>
                </a:solidFill>
                <a:latin typeface="Microsoft YaHei"/>
              </a:rPr>
              <a:t>  70629行 · …/total</a:t>
            </a:r>
          </a:p>
          <a:p>
            <a:pPr algn="l">
              <a:spcBef>
                <a:spcPts val="400"/>
              </a:spcBef>
            </a:pPr>
            <a:r>
              <a:rPr sz="800" b="0">
                <a:solidFill>
                  <a:srgbClr val="7F1D1D"/>
                </a:solidFill>
                <a:latin typeface="Microsoft YaHei"/>
              </a:rPr>
              <a:t>  2129行 · …/pdf_build_stage/native_backend/utils.py</a:t>
            </a:r>
          </a:p>
          <a:p>
            <a:pPr algn="l">
              <a:spcBef>
                <a:spcPts val="400"/>
              </a:spcBef>
            </a:pPr>
            <a:r>
              <a:rPr sz="800" b="0">
                <a:solidFill>
                  <a:srgbClr val="7F1D1D"/>
                </a:solidFill>
                <a:latin typeface="Microsoft YaHei"/>
              </a:rPr>
              <a:t>  1933行 · …/docarbor/retrieval_stage/localize.py</a:t>
            </a:r>
          </a:p>
          <a:p>
            <a:pPr algn="l">
              <a:spcBef>
                <a:spcPts val="400"/>
              </a:spcBef>
            </a:pPr>
            <a:r>
              <a:rPr sz="800" b="0">
                <a:solidFill>
                  <a:srgbClr val="7F1D1D"/>
                </a:solidFill>
                <a:latin typeface="Microsoft YaHei"/>
              </a:rPr>
              <a:t>  1735行 · …/docarbor/service/contexts.py</a:t>
            </a:r>
          </a:p>
          <a:p>
            <a:pPr algn="l">
              <a:spcBef>
                <a:spcPts val="400"/>
              </a:spcBef>
            </a:pPr>
            <a:r>
              <a:rPr sz="800" b="0">
                <a:solidFill>
                  <a:srgbClr val="7F1D1D"/>
                </a:solidFill>
                <a:latin typeface="Microsoft YaHei"/>
              </a:rPr>
              <a:t>  1510行 · …/docarbor/markdown_build_stage/payload.py</a:t>
            </a:r>
          </a:p>
          <a:p>
            <a:pPr algn="l">
              <a:spcBef>
                <a:spcPts val="400"/>
              </a:spcBef>
            </a:pPr>
            <a:r>
              <a:rPr sz="600" b="0">
                <a:solidFill>
                  <a:srgbClr val="374151"/>
                </a:solidFill>
                <a:latin typeface="Microsoft YaHei"/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200" b="1">
                <a:solidFill>
                  <a:srgbClr val="991B1B"/>
                </a:solidFill>
                <a:latin typeface="Microsoft YaHei"/>
              </a:rPr>
              <a:t>💡 建议对策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7F1D1D"/>
                </a:solidFill>
                <a:latin typeface="Microsoft YaHei"/>
              </a:rPr>
              <a:t>• 建立单文件 500 行硬约束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7F1D1D"/>
                </a:solidFill>
                <a:latin typeface="Microsoft YaHei"/>
              </a:rPr>
              <a:t>• 制定包/模块拆分清单 (SRP 检查表)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7F1D1D"/>
                </a:solidFill>
                <a:latin typeface="Microsoft YaHei"/>
              </a:rPr>
              <a:t>• CI 集成 radon/pygount 度量, 超标即告警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20040" y="6035040"/>
            <a:ext cx="11521440" cy="5943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36000" tIns="91440" bIns="18000"/>
          <a:lstStyle/>
          <a:p>
            <a:pPr algn="l"/>
            <a:r>
              <a:rPr sz="900" b="0">
                <a:solidFill>
                  <a:srgbClr val="475569"/>
                </a:solidFill>
                <a:latin typeface="Microsoft YaHei"/>
              </a:rPr>
              <a:t>📎 证据: src/ 下 12 个顶级包, core 包占 53,636 行 (210 文件, avg 255, max 2129) · 5 个文件 &gt;1000 行 · 顶包体量呈幂律分布, 缺少拆分约束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36000" tIns="18000" bIns="18000"/>
          <a:lstStyle/>
          <a:p>
            <a:pPr algn="l"/>
            <a:r>
              <a:rPr sz="1700" b="1">
                <a:solidFill>
                  <a:srgbClr val="FFFFFF"/>
                </a:solidFill>
                <a:latin typeface="Microsoft YaHei"/>
              </a:rPr>
              <a:t>根因确认 · ④   |   关键修改记录无追溯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21792"/>
            <a:ext cx="8686800" cy="3200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Microsoft YaHei"/>
              </a:rPr>
              <a:t>确认方法：现场测量 · 遍历近 100 条 Git 提交, 统计追溯完整率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585655" y="658368"/>
            <a:ext cx="2377440" cy="329184"/>
          </a:xfrm>
          <a:prstGeom prst="roundRect">
            <a:avLst/>
          </a:prstGeom>
          <a:solidFill>
            <a:srgbClr val="16A34A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确认结论：成立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1143000"/>
            <a:ext cx="2651760" cy="1051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280160"/>
            <a:ext cx="2651760" cy="502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2600" b="1">
                <a:solidFill>
                  <a:srgbClr val="DC2626"/>
                </a:solidFill>
                <a:latin typeface="Microsoft YaHei"/>
              </a:rPr>
              <a:t>31%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783080"/>
            <a:ext cx="2651760" cy="3200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Microsoft YaHei"/>
              </a:rPr>
              <a:t>无正文说明的 commit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08960" y="1143000"/>
            <a:ext cx="2651760" cy="1051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08960" y="1280160"/>
            <a:ext cx="2651760" cy="502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2600" b="1">
                <a:solidFill>
                  <a:srgbClr val="DC2626"/>
                </a:solidFill>
                <a:latin typeface="Microsoft YaHei"/>
              </a:rPr>
              <a:t>16%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1783080"/>
            <a:ext cx="2651760" cy="3200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Microsoft YaHei"/>
              </a:rPr>
              <a:t>关联 Issue/PR 的 commit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97880" y="1143000"/>
            <a:ext cx="2651760" cy="1051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7880" y="1280160"/>
            <a:ext cx="2651760" cy="502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2600" b="1">
                <a:solidFill>
                  <a:srgbClr val="F59E0B"/>
                </a:solidFill>
                <a:latin typeface="Microsoft YaHei"/>
              </a:rPr>
              <a:t>22%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7880" y="1783080"/>
            <a:ext cx="2651760" cy="3200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Microsoft YaHei"/>
              </a:rPr>
              <a:t>标题 &lt;15 字的 commit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0" y="1143000"/>
            <a:ext cx="2651760" cy="1051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0" y="1280160"/>
            <a:ext cx="2651760" cy="502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2600" b="1">
                <a:solidFill>
                  <a:srgbClr val="F59E0B"/>
                </a:solidFill>
                <a:latin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1783080"/>
            <a:ext cx="2651760" cy="3200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Microsoft YaHei"/>
              </a:rPr>
              <a:t>Revert 提交数 (200 条内)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2331720"/>
            <a:ext cx="685800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36000" tIns="137160" bIns="18000"/>
          <a:lstStyle/>
          <a:p>
            <a:pPr algn="l"/>
            <a:r>
              <a:rPr sz="1300" b="1">
                <a:solidFill>
                  <a:srgbClr val="0F172A"/>
                </a:solidFill>
                <a:latin typeface="Microsoft YaHei"/>
              </a:rPr>
              <a:t>📊 追溯性四大维度</a:t>
            </a:r>
          </a:p>
          <a:p>
            <a:pPr algn="l">
              <a:spcBef>
                <a:spcPts val="400"/>
              </a:spcBef>
            </a:pPr>
            <a:r>
              <a:rPr sz="800" b="0">
                <a:solidFill>
                  <a:srgbClr val="374151"/>
                </a:solidFill>
                <a:latin typeface="Microsoft YaHei"/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DC2626"/>
                </a:solidFill>
                <a:latin typeface="Microsoft YaHei"/>
              </a:rPr>
              <a:t>综合追溯完整率 ≈ 42%   (正文覆盖 &amp; Issue 关联的均值)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2834640"/>
            <a:ext cx="164592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1">
                <a:solidFill>
                  <a:srgbClr val="1E293B"/>
                </a:solidFill>
                <a:latin typeface="Microsoft YaHei"/>
              </a:rPr>
              <a:t>标题充分度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48840" y="2862072"/>
            <a:ext cx="2924251" cy="21945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0" y="2816352"/>
            <a:ext cx="100584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1">
                <a:solidFill>
                  <a:srgbClr val="334155"/>
                </a:solidFill>
                <a:latin typeface="Microsoft YaHei"/>
              </a:rPr>
              <a:t>78% (≥15字)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3291840"/>
            <a:ext cx="164592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1">
                <a:solidFill>
                  <a:srgbClr val="1E293B"/>
                </a:solidFill>
                <a:latin typeface="Microsoft YaHei"/>
              </a:rPr>
              <a:t>正文覆盖率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48840" y="3319272"/>
            <a:ext cx="2586837" cy="21945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0" y="3273552"/>
            <a:ext cx="100584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1">
                <a:solidFill>
                  <a:srgbClr val="334155"/>
                </a:solidFill>
                <a:latin typeface="Microsoft YaHei"/>
              </a:rPr>
              <a:t>69% (有 body)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3749040"/>
            <a:ext cx="164592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1">
                <a:solidFill>
                  <a:srgbClr val="1E293B"/>
                </a:solidFill>
                <a:latin typeface="Microsoft YaHei"/>
              </a:rPr>
              <a:t>Issue 关联率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48840" y="3776472"/>
            <a:ext cx="599846" cy="21945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0" y="3730752"/>
            <a:ext cx="100584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1">
                <a:solidFill>
                  <a:srgbClr val="334155"/>
                </a:solidFill>
                <a:latin typeface="Microsoft YaHei"/>
              </a:rPr>
              <a:t>16% (含 #num/Issue/PR)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4206240"/>
            <a:ext cx="164592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1">
                <a:solidFill>
                  <a:srgbClr val="1E293B"/>
                </a:solidFill>
                <a:latin typeface="Microsoft YaHei"/>
              </a:rPr>
              <a:t>Revert 占比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148840" y="4233672"/>
            <a:ext cx="22584" cy="21945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0" y="4187952"/>
            <a:ext cx="100584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1">
                <a:solidFill>
                  <a:srgbClr val="334155"/>
                </a:solidFill>
                <a:latin typeface="Microsoft YaHei"/>
              </a:rPr>
              <a:t>1/166 (回滚率低是好事)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60920" y="2331720"/>
            <a:ext cx="4480560" cy="3566160"/>
          </a:xfrm>
          <a:prstGeom prst="roundRect">
            <a:avLst/>
          </a:prstGeom>
          <a:solidFill>
            <a:srgbClr val="FEF2F2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36000" tIns="182880" bIns="18000"/>
          <a:lstStyle/>
          <a:p>
            <a:pPr algn="l"/>
            <a:r>
              <a:rPr sz="1300" b="1">
                <a:solidFill>
                  <a:srgbClr val="991B1B"/>
                </a:solidFill>
                <a:latin typeface="Microsoft YaHei"/>
              </a:rPr>
              <a:t>🎯 确认结论 · 成立</a:t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991B1B"/>
                </a:solidFill>
                <a:latin typeface="Microsoft YaHei"/>
              </a:rPr>
              <a:t>近 83 条提交中: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991B1B"/>
                </a:solidFill>
                <a:latin typeface="Microsoft YaHei"/>
              </a:rPr>
              <a:t>• 31% 无正文说明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991B1B"/>
                </a:solidFill>
                <a:latin typeface="Microsoft YaHei"/>
              </a:rPr>
              <a:t>• 22% 标题过短 (&lt;15字)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991B1B"/>
                </a:solidFill>
                <a:latin typeface="Microsoft YaHei"/>
              </a:rPr>
              <a:t>• 仅 16% 关联 Issue/PR</a:t>
            </a:r>
          </a:p>
          <a:p>
            <a:pPr algn="l">
              <a:spcBef>
                <a:spcPts val="400"/>
              </a:spcBef>
            </a:pPr>
            <a:r>
              <a:rPr sz="400" b="0">
                <a:solidFill>
                  <a:srgbClr val="374151"/>
                </a:solidFill>
                <a:latin typeface="Microsoft YaHei"/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991B1B"/>
                </a:solidFill>
                <a:latin typeface="Microsoft YaHei"/>
              </a:rPr>
              <a:t>关键功能变更难以追溯到: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991B1B"/>
                </a:solidFill>
                <a:latin typeface="Microsoft YaHei"/>
              </a:rPr>
              <a:t>  · 原始需求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991B1B"/>
                </a:solidFill>
                <a:latin typeface="Microsoft YaHei"/>
              </a:rPr>
              <a:t>  · 影响范围说明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991B1B"/>
                </a:solidFill>
                <a:latin typeface="Microsoft YaHei"/>
              </a:rPr>
              <a:t>  · 相关讨论线索</a:t>
            </a:r>
          </a:p>
          <a:p>
            <a:pPr algn="l">
              <a:spcBef>
                <a:spcPts val="400"/>
              </a:spcBef>
            </a:pPr>
            <a:r>
              <a:rPr sz="600" b="0">
                <a:solidFill>
                  <a:srgbClr val="374151"/>
                </a:solidFill>
                <a:latin typeface="Microsoft YaHei"/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200" b="1">
                <a:solidFill>
                  <a:srgbClr val="991B1B"/>
                </a:solidFill>
                <a:latin typeface="Microsoft YaHei"/>
              </a:rPr>
              <a:t>💡 建议对策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7F1D1D"/>
                </a:solidFill>
                <a:latin typeface="Microsoft YaHei"/>
              </a:rPr>
              <a:t>• 采用 Conventional Commits 规范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7F1D1D"/>
                </a:solidFill>
                <a:latin typeface="Microsoft YaHei"/>
              </a:rPr>
              <a:t>• pre-commit 校验: 关键路径必须有正文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7F1D1D"/>
                </a:solidFill>
                <a:latin typeface="Microsoft YaHei"/>
              </a:rPr>
              <a:t>• commit body 强制 #Issue 或 关联 PR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0040" y="6035040"/>
            <a:ext cx="11521440" cy="5943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36000" tIns="91440" bIns="18000"/>
          <a:lstStyle/>
          <a:p>
            <a:pPr algn="l"/>
            <a:r>
              <a:rPr sz="900" b="0">
                <a:solidFill>
                  <a:srgbClr val="475569"/>
                </a:solidFill>
                <a:latin typeface="Microsoft YaHei"/>
              </a:rPr>
              <a:t>📎 证据: git log -n 100 · 标题 &lt;15字 18 条 (22%) · 无 body 26 条 (31%) · 含 #num/Issue/PR/Jira 13 条 (16%) · 分支 cherr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