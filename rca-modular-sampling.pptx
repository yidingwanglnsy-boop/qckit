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36000" tIns="14000" bIns="14000"/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根因确认 · ③   |   模块化拆分规范缺失 · 20模块抽样评分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21792"/>
            <a:ext cx="8686800" cy="32004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确认方法：抽样检验 · 随机抽取 20 个非测试 Python 模块，按 6 项规范清单评分（满分 12）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585655" y="658368"/>
            <a:ext cx="2377440" cy="329184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4000" bIns="14000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确认结论：成立 (均分 9.4/12)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143000"/>
            <a:ext cx="265176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80160"/>
            <a:ext cx="2651760" cy="5029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2600" b="1">
                <a:solidFill>
                  <a:srgbClr val="DC2626"/>
                </a:solidFill>
                <a:latin typeface="Microsoft YaHei"/>
              </a:rPr>
              <a:t>9.4/12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01368"/>
            <a:ext cx="2651760" cy="32004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</a:rPr>
              <a:t>平均分 (20个模块)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143000"/>
            <a:ext cx="265176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280160"/>
            <a:ext cx="2651760" cy="5029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2600" b="1">
                <a:solidFill>
                  <a:srgbClr val="F59E0B"/>
                </a:solidFill>
                <a:latin typeface="Microsoft YaHei"/>
              </a:rPr>
              <a:t>11 / 7 /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801368"/>
            <a:ext cx="2651760" cy="32004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</a:rPr>
              <a:t>优 / 中 / 差 分布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1143000"/>
            <a:ext cx="265176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7880" y="1280160"/>
            <a:ext cx="2651760" cy="5029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2600" b="1">
                <a:solidFill>
                  <a:srgbClr val="DC2626"/>
                </a:solidFill>
                <a:latin typeface="Microsoft YaHei"/>
              </a:rPr>
              <a:t>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1801368"/>
            <a:ext cx="2651760" cy="32004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</a:rPr>
              <a:t>有 __all__ 接口定义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1143000"/>
            <a:ext cx="2651760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1280160"/>
            <a:ext cx="2651760" cy="5029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2600" b="1">
                <a:solidFill>
                  <a:srgbClr val="F59E0B"/>
                </a:solidFill>
                <a:latin typeface="Microsoft YaHei"/>
              </a:rPr>
              <a:t>55%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801368"/>
            <a:ext cx="2651760" cy="32004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Microsoft YaHei"/>
              </a:rPr>
              <a:t>达到'优'的模块比例 (≥10/12)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2331720"/>
            <a:ext cx="68580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36000" tIns="137160" bIns="14000"/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</a:rPr>
              <a:t>📊 6 项规范维度均值 (0-2 分)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834640"/>
            <a:ext cx="192024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Microsoft YaHei"/>
              </a:rPr>
              <a:t>S1 · 文件大小 SRP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2880360"/>
            <a:ext cx="274320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2816352"/>
            <a:ext cx="1371600" cy="32004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Microsoft YaHei"/>
              </a:rPr>
              <a:t>1.5  ⚠️ 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291840"/>
            <a:ext cx="192024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Microsoft YaHei"/>
              </a:rPr>
              <a:t>S2 · 类职责聚焦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3337560"/>
            <a:ext cx="237744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3273552"/>
            <a:ext cx="1371600" cy="32004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Microsoft YaHei"/>
              </a:rPr>
              <a:t>1.3  ⚠️ 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749040"/>
            <a:ext cx="192024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Microsoft YaHei"/>
              </a:rPr>
              <a:t>S3 · 函数复杂度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0" y="3794760"/>
            <a:ext cx="3200400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730752"/>
            <a:ext cx="1371600" cy="32004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Microsoft YaHei"/>
              </a:rPr>
              <a:t>1.75  ✅ 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206240"/>
            <a:ext cx="192024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Microsoft YaHei"/>
              </a:rPr>
              <a:t>S4 · 接口暴露定义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8880" y="4251960"/>
            <a:ext cx="256032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4187952"/>
            <a:ext cx="1371600" cy="32004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Microsoft YaHei"/>
              </a:rPr>
              <a:t>1.4  ⚠️ 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663440"/>
            <a:ext cx="192024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Microsoft YaHei"/>
              </a:rPr>
              <a:t>S5 · Docstring 覆盖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68880" y="4709160"/>
            <a:ext cx="274320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4645152"/>
            <a:ext cx="1371600" cy="32004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Microsoft YaHei"/>
              </a:rPr>
              <a:t>1.5  ⚠️ 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120640"/>
            <a:ext cx="192024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Microsoft YaHei"/>
              </a:rPr>
              <a:t>S6 · 依赖清晰度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8880" y="5166360"/>
            <a:ext cx="3566160" cy="2194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5102352"/>
            <a:ext cx="1371600" cy="32004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Microsoft YaHei"/>
              </a:rPr>
              <a:t>1.95  ✅ 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60920" y="2331720"/>
            <a:ext cx="4480560" cy="356616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36000" tIns="182880" bIns="14000"/>
          <a:lstStyle/>
          <a:p>
            <a:pPr algn="l"/>
            <a:r>
              <a:rPr sz="1300" b="1">
                <a:solidFill>
                  <a:srgbClr val="991B1B"/>
                </a:solidFill>
                <a:latin typeface="Microsoft YaHei"/>
              </a:rPr>
              <a:t>🎯 确认结论 · 成立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991B1B"/>
                </a:solidFill>
                <a:latin typeface="Microsoft YaHei"/>
              </a:rPr>
              <a:t>整体均分 9.4/12 —— 看似不错，但:</a:t>
            </a:r>
          </a:p>
          <a:p>
            <a:pPr algn="l">
              <a:spcBef>
                <a:spcPts val="300"/>
              </a:spcBef>
            </a:pPr>
            <a:r>
              <a:rPr sz="3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100" b="1">
                <a:solidFill>
                  <a:srgbClr val="991B1B"/>
                </a:solidFill>
                <a:latin typeface="Microsoft YaHei"/>
              </a:rPr>
              <a:t>🔴 关键短板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7F1D1D"/>
                </a:solidFill>
                <a:latin typeface="Microsoft YaHei"/>
              </a:rPr>
              <a:t>• 仅 10% 模块显式定义 __all__ 接口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7F1D1D"/>
                </a:solidFill>
                <a:latin typeface="Microsoft YaHei"/>
              </a:rPr>
              <a:t>• S2 类职责聚焦 均值 1.3，多类混杂常见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7F1D1D"/>
                </a:solidFill>
                <a:latin typeface="Microsoft YaHei"/>
              </a:rPr>
              <a:t>• S4 接口暴露 均值 1.4，公开 API 隐含性强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7F1D1D"/>
                </a:solidFill>
                <a:latin typeface="Microsoft YaHei"/>
              </a:rPr>
              <a:t>• 存在 2 个模块得 4-5 分（&gt;1000 行巨型）</a:t>
            </a:r>
          </a:p>
          <a:p>
            <a:pPr algn="l">
              <a:spcBef>
                <a:spcPts val="300"/>
              </a:spcBef>
            </a:pPr>
            <a:r>
              <a:rPr sz="3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100" b="1">
                <a:solidFill>
                  <a:srgbClr val="065F46"/>
                </a:solidFill>
                <a:latin typeface="Microsoft YaHei"/>
              </a:rPr>
              <a:t>✅ 已经不错的方面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065F46"/>
                </a:solidFill>
                <a:latin typeface="Microsoft YaHei"/>
              </a:rPr>
              <a:t>• S6 依赖清晰度 均值 1.95 (最好)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065F46"/>
                </a:solidFill>
                <a:latin typeface="Microsoft YaHei"/>
              </a:rPr>
              <a:t>• S3 函数复杂度 均值 1.75</a:t>
            </a:r>
          </a:p>
          <a:p>
            <a:pPr algn="l">
              <a:spcBef>
                <a:spcPts val="300"/>
              </a:spcBef>
            </a:pPr>
            <a:r>
              <a:rPr sz="5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991B1B"/>
                </a:solidFill>
                <a:latin typeface="Microsoft YaHei"/>
              </a:rPr>
              <a:t>💡 建议对策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7F1D1D"/>
                </a:solidFill>
                <a:latin typeface="Microsoft YaHei"/>
              </a:rPr>
              <a:t>① CI 引入 pygount + radon, 硬约束单文件 ≤500 行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7F1D1D"/>
                </a:solidFill>
                <a:latin typeface="Microsoft YaHei"/>
              </a:rPr>
              <a:t>② 制定 __all__ 强制规范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7F1D1D"/>
                </a:solidFill>
                <a:latin typeface="Microsoft YaHei"/>
              </a:rPr>
              <a:t>③ 建 SRP 拆分清单, 新模块 PR 必附合规评分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0040" y="6035040"/>
            <a:ext cx="11521440" cy="594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36000" tIns="91440" bIns="14000"/>
          <a:lstStyle/>
          <a:p>
            <a:pPr algn="l"/>
            <a:r>
              <a:rPr sz="900" b="0">
                <a:solidFill>
                  <a:srgbClr val="475569"/>
                </a:solidFill>
                <a:latin typeface="Microsoft YaHei"/>
              </a:rPr>
              <a:t>📎 证据: 从 279 个候选模块中随机抽样 20 个 (seed=42) · 6 维度评分: S1=文件大小(≤200=2), S2=类数(1=2), S3=函数复杂度, S4=__all__/公开面, S5=Docstring, S6=依赖数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36000" tIns="14000" bIns="14000"/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根因确认 · ③   |   20个模块合规评分明细表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914400"/>
            <a:ext cx="365760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32688"/>
            <a:ext cx="36576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#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14400"/>
            <a:ext cx="5486400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32688"/>
            <a:ext cx="54864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模块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914400"/>
            <a:ext cx="640080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932688"/>
            <a:ext cx="6400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Microsoft YaHei"/>
              </a:rPr>
              <a:t>LOC</a:t>
            </a:r>
          </a:p>
        </p:txBody>
      </p:sp>
      <p:sp>
        <p:nvSpPr>
          <p:cNvPr id="9" name="Rectangle 8"/>
          <p:cNvSpPr/>
          <p:nvPr/>
        </p:nvSpPr>
        <p:spPr>
          <a:xfrm>
            <a:off x="6812280" y="914400"/>
            <a:ext cx="457200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932688"/>
            <a:ext cx="4572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69480" y="914400"/>
            <a:ext cx="502920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932688"/>
            <a:ext cx="50292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函数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914400"/>
            <a:ext cx="411480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93268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914400"/>
            <a:ext cx="411480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93268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S2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914400"/>
            <a:ext cx="411480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93268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S3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0" y="914400"/>
            <a:ext cx="411480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93268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S4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20" y="914400"/>
            <a:ext cx="411480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93268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S5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29800" y="914400"/>
            <a:ext cx="411480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9800" y="93268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S6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41280" y="914400"/>
            <a:ext cx="548640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0" y="932688"/>
            <a:ext cx="54864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总分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789920" y="914400"/>
            <a:ext cx="685800" cy="274320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0" y="932688"/>
            <a:ext cx="6858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等级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1188720"/>
            <a:ext cx="36576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1207008"/>
            <a:ext cx="36576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1188720"/>
            <a:ext cx="548640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1207008"/>
            <a:ext cx="54864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YaHei"/>
              </a:rPr>
              <a:t>metavisor/client/api/discovery.py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1188720"/>
            <a:ext cx="6400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1207008"/>
            <a:ext cx="6400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YaHei"/>
              </a:rPr>
              <a:t>77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12280" y="1188720"/>
            <a:ext cx="45720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2280" y="1207008"/>
            <a:ext cx="4572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69480" y="1188720"/>
            <a:ext cx="50292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9480" y="1207008"/>
            <a:ext cx="50292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0" y="118872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0" y="120700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83880" y="118872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83880" y="120700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95360" y="118872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95360" y="120700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06840" y="118872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06840" y="120700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18320" y="118872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18320" y="120700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829800" y="118872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29800" y="120700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1280" y="1188720"/>
            <a:ext cx="54864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41280" y="1207008"/>
            <a:ext cx="54864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789920" y="1188720"/>
            <a:ext cx="68580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789920" y="1207008"/>
            <a:ext cx="6858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🟢 优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1463040"/>
            <a:ext cx="36576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1481328"/>
            <a:ext cx="36576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5800" y="1463040"/>
            <a:ext cx="548640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5800" y="1481328"/>
            <a:ext cx="54864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YaHei"/>
              </a:rPr>
              <a:t>…r/adapters/udnnew/basic/transformers/derived_metric_mapper.py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72200" y="1463040"/>
            <a:ext cx="6400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72200" y="1481328"/>
            <a:ext cx="6400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YaHei"/>
              </a:rPr>
              <a:t>17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12280" y="1463040"/>
            <a:ext cx="45720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12280" y="1481328"/>
            <a:ext cx="4572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69480" y="1463040"/>
            <a:ext cx="50292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69480" y="1481328"/>
            <a:ext cx="50292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72400" y="146304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72400" y="148132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83880" y="146304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83880" y="148132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95360" y="146304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95360" y="148132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006840" y="146304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006840" y="148132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418320" y="146304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418320" y="148132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829800" y="146304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829800" y="148132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241280" y="1463040"/>
            <a:ext cx="54864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241280" y="1481328"/>
            <a:ext cx="54864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789920" y="1463040"/>
            <a:ext cx="68580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789920" y="1481328"/>
            <a:ext cx="6858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🟢 优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0040" y="1737360"/>
            <a:ext cx="36576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20040" y="1755648"/>
            <a:ext cx="36576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85800" y="1737360"/>
            <a:ext cx="548640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85800" y="1755648"/>
            <a:ext cx="54864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YaHei"/>
              </a:rPr>
              <a:t>…re/knowledge/omniextractor/doc/pdf/stages/vlm_result_parse.py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172200" y="1737360"/>
            <a:ext cx="6400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72200" y="1755648"/>
            <a:ext cx="6400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YaHei"/>
              </a:rPr>
              <a:t>93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812280" y="1737360"/>
            <a:ext cx="45720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12280" y="1755648"/>
            <a:ext cx="4572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269480" y="1737360"/>
            <a:ext cx="50292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269480" y="1755648"/>
            <a:ext cx="50292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772400" y="173736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772400" y="175564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183880" y="173736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183880" y="175564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595360" y="173736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595360" y="175564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006840" y="173736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006840" y="175564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418320" y="173736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418320" y="175564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829800" y="173736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829800" y="175564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241280" y="1737360"/>
            <a:ext cx="54864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241280" y="1755648"/>
            <a:ext cx="54864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789920" y="1737360"/>
            <a:ext cx="68580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789920" y="1755648"/>
            <a:ext cx="6858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🟢 优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20040" y="2011680"/>
            <a:ext cx="36576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20040" y="2029968"/>
            <a:ext cx="36576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4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85800" y="2011680"/>
            <a:ext cx="548640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85800" y="2029968"/>
            <a:ext cx="54864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YaHei"/>
              </a:rPr>
              <a:t>metavisor/adapters/icbc/enhance/sinks/relationship_sink.py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172200" y="2011680"/>
            <a:ext cx="6400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172200" y="2029968"/>
            <a:ext cx="6400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YaHei"/>
              </a:rPr>
              <a:t>132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812280" y="2011680"/>
            <a:ext cx="45720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812280" y="2029968"/>
            <a:ext cx="4572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269480" y="2011680"/>
            <a:ext cx="50292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269480" y="2029968"/>
            <a:ext cx="50292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3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772400" y="201168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772400" y="202996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183880" y="201168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183880" y="202996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595360" y="201168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595360" y="202996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006840" y="201168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006840" y="202996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418320" y="201168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418320" y="202996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829800" y="201168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829800" y="202996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241280" y="2011680"/>
            <a:ext cx="54864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241280" y="2029968"/>
            <a:ext cx="54864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12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789920" y="2011680"/>
            <a:ext cx="68580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789920" y="2029968"/>
            <a:ext cx="6858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🟢 优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20040" y="2286000"/>
            <a:ext cx="36576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20040" y="2304288"/>
            <a:ext cx="36576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5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85800" y="2286000"/>
            <a:ext cx="548640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85800" y="2304288"/>
            <a:ext cx="54864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YaHei"/>
              </a:rPr>
              <a:t>…struct/core/knowledge/omniextractor/doc/office/xlsx/config.py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172200" y="2286000"/>
            <a:ext cx="6400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172200" y="2304288"/>
            <a:ext cx="6400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YaHei"/>
              </a:rPr>
              <a:t>17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812280" y="2286000"/>
            <a:ext cx="45720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812280" y="2304288"/>
            <a:ext cx="4572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269480" y="2286000"/>
            <a:ext cx="50292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269480" y="2304288"/>
            <a:ext cx="50292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0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772400" y="228600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772400" y="230428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183880" y="228600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183880" y="230428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595360" y="228600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595360" y="230428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006840" y="228600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006840" y="230428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418320" y="228600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418320" y="230428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9829800" y="228600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9829800" y="230428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0241280" y="2286000"/>
            <a:ext cx="54864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0241280" y="2304288"/>
            <a:ext cx="54864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12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0789920" y="2286000"/>
            <a:ext cx="68580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0789920" y="2304288"/>
            <a:ext cx="6858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🟢 优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20040" y="2560320"/>
            <a:ext cx="36576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320040" y="2578608"/>
            <a:ext cx="36576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6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85800" y="2560320"/>
            <a:ext cx="548640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85800" y="2578608"/>
            <a:ext cx="54864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YaHei"/>
              </a:rPr>
              <a:t>…apters/changping/basic/transformers/table_mapper_changping.py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172200" y="2560320"/>
            <a:ext cx="6400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172200" y="2578608"/>
            <a:ext cx="6400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YaHei"/>
              </a:rPr>
              <a:t>63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812280" y="2560320"/>
            <a:ext cx="45720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812280" y="2578608"/>
            <a:ext cx="4572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7269480" y="2560320"/>
            <a:ext cx="50292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7269480" y="2578608"/>
            <a:ext cx="50292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772400" y="256032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772400" y="257860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183880" y="256032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183880" y="257860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595360" y="256032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8595360" y="257860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9006840" y="256032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9006840" y="257860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9418320" y="256032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9418320" y="257860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9829800" y="256032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9829800" y="257860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0241280" y="2560320"/>
            <a:ext cx="54864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0241280" y="2578608"/>
            <a:ext cx="54864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11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0789920" y="2560320"/>
            <a:ext cx="68580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0789920" y="2578608"/>
            <a:ext cx="6858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🟢 优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320040" y="2834640"/>
            <a:ext cx="36576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320040" y="2852928"/>
            <a:ext cx="36576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7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685800" y="2834640"/>
            <a:ext cx="548640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85800" y="2852928"/>
            <a:ext cx="54864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YaHei"/>
              </a:rPr>
              <a:t>…e/knowledge/omniextractor/doc/pdf/stages/middle_json_merge.py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6172200" y="2834640"/>
            <a:ext cx="6400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172200" y="2852928"/>
            <a:ext cx="6400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YaHei"/>
              </a:rPr>
              <a:t>203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812280" y="2834640"/>
            <a:ext cx="45720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812280" y="2852928"/>
            <a:ext cx="4572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269480" y="2834640"/>
            <a:ext cx="50292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7269480" y="2852928"/>
            <a:ext cx="50292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0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7772400" y="283464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7772400" y="285292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8183880" y="283464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8183880" y="285292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8595360" y="283464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8595360" y="285292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9006840" y="283464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006840" y="285292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9418320" y="283464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9418320" y="285292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9829800" y="283464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9829800" y="285292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10241280" y="2834640"/>
            <a:ext cx="54864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10241280" y="2852928"/>
            <a:ext cx="54864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11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10789920" y="2834640"/>
            <a:ext cx="68580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10789920" y="2852928"/>
            <a:ext cx="6858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🟢 优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320040" y="3108960"/>
            <a:ext cx="36576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320040" y="3127248"/>
            <a:ext cx="36576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8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685800" y="3108960"/>
            <a:ext cx="548640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685800" y="3127248"/>
            <a:ext cx="54864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YaHei"/>
              </a:rPr>
              <a:t>metavisor/adapters/udn/basic/sources/table_source.py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6172200" y="3108960"/>
            <a:ext cx="6400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6172200" y="3127248"/>
            <a:ext cx="6400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YaHei"/>
              </a:rPr>
              <a:t>86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6812280" y="3108960"/>
            <a:ext cx="45720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6812280" y="3127248"/>
            <a:ext cx="4572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7269480" y="3108960"/>
            <a:ext cx="50292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7269480" y="3127248"/>
            <a:ext cx="50292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7772400" y="310896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7772400" y="312724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8183880" y="310896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8183880" y="312724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8595360" y="310896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8595360" y="312724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9006840" y="310896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9006840" y="312724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9418320" y="310896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9418320" y="312724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0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9829800" y="310896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9829800" y="312724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10241280" y="3108960"/>
            <a:ext cx="54864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10241280" y="3127248"/>
            <a:ext cx="54864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10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10789920" y="3108960"/>
            <a:ext cx="68580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10789920" y="3127248"/>
            <a:ext cx="6858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🟢 优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320040" y="3383280"/>
            <a:ext cx="36576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320040" y="3401568"/>
            <a:ext cx="36576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9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685800" y="3383280"/>
            <a:ext cx="548640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685800" y="3401568"/>
            <a:ext cx="54864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YaHei"/>
              </a:rPr>
              <a:t>…pters/changping/basic/transformers/column_mapper_changping.py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6172200" y="3383280"/>
            <a:ext cx="6400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6172200" y="3401568"/>
            <a:ext cx="6400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YaHei"/>
              </a:rPr>
              <a:t>222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6812280" y="3383280"/>
            <a:ext cx="45720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6812280" y="3401568"/>
            <a:ext cx="4572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7269480" y="3383280"/>
            <a:ext cx="50292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7269480" y="3401568"/>
            <a:ext cx="50292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3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7772400" y="338328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7772400" y="340156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8183880" y="338328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8183880" y="340156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8595360" y="338328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8595360" y="340156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9006840" y="338328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9006840" y="340156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9418320" y="338328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9418320" y="340156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9829800" y="338328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9829800" y="340156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10241280" y="3383280"/>
            <a:ext cx="54864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10241280" y="3401568"/>
            <a:ext cx="54864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10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10789920" y="3383280"/>
            <a:ext cx="68580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10789920" y="3401568"/>
            <a:ext cx="6858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🟢 优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320040" y="3657600"/>
            <a:ext cx="36576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320040" y="3675888"/>
            <a:ext cx="36576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10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685800" y="3657600"/>
            <a:ext cx="548640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685800" y="3675888"/>
            <a:ext cx="54864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YaHei"/>
              </a:rPr>
              <a:t>metavisor/client/api/types.py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6172200" y="3657600"/>
            <a:ext cx="6400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6172200" y="3675888"/>
            <a:ext cx="6400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YaHei"/>
              </a:rPr>
              <a:t>99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6812280" y="3657600"/>
            <a:ext cx="45720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6812280" y="3675888"/>
            <a:ext cx="4572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7269480" y="3657600"/>
            <a:ext cx="50292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7269480" y="3675888"/>
            <a:ext cx="50292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5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7772400" y="365760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7772400" y="367588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8183880" y="365760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8183880" y="367588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8595360" y="365760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8595360" y="367588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9006840" y="365760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9006840" y="367588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0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9418320" y="365760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9418320" y="367588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9829800" y="365760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9829800" y="367588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10241280" y="3657600"/>
            <a:ext cx="54864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10241280" y="3675888"/>
            <a:ext cx="54864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10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10789920" y="3657600"/>
            <a:ext cx="68580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10789920" y="3675888"/>
            <a:ext cx="6858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🟢 优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320040" y="3931920"/>
            <a:ext cx="36576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320040" y="3950208"/>
            <a:ext cx="36576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11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685800" y="3931920"/>
            <a:ext cx="548640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685800" y="3950208"/>
            <a:ext cx="54864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YaHei"/>
              </a:rPr>
              <a:t>metavisor/metadata_enhancer/prompts.py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6172200" y="3931920"/>
            <a:ext cx="6400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6172200" y="3950208"/>
            <a:ext cx="6400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YaHei"/>
              </a:rPr>
              <a:t>445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6812280" y="3931920"/>
            <a:ext cx="45720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6812280" y="3950208"/>
            <a:ext cx="4572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</a:t>
            </a:r>
          </a:p>
        </p:txBody>
      </p:sp>
      <p:sp>
        <p:nvSpPr>
          <p:cNvPr id="297" name="Rectangle 296"/>
          <p:cNvSpPr/>
          <p:nvPr/>
        </p:nvSpPr>
        <p:spPr>
          <a:xfrm>
            <a:off x="7269480" y="3931920"/>
            <a:ext cx="50292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7269480" y="3950208"/>
            <a:ext cx="50292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0</a:t>
            </a:r>
          </a:p>
        </p:txBody>
      </p:sp>
      <p:sp>
        <p:nvSpPr>
          <p:cNvPr id="299" name="Rectangle 298"/>
          <p:cNvSpPr/>
          <p:nvPr/>
        </p:nvSpPr>
        <p:spPr>
          <a:xfrm>
            <a:off x="7772400" y="393192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7772400" y="395020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</a:t>
            </a:r>
          </a:p>
        </p:txBody>
      </p:sp>
      <p:sp>
        <p:nvSpPr>
          <p:cNvPr id="301" name="Rectangle 300"/>
          <p:cNvSpPr/>
          <p:nvPr/>
        </p:nvSpPr>
        <p:spPr>
          <a:xfrm>
            <a:off x="8183880" y="393192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TextBox 301"/>
          <p:cNvSpPr txBox="1"/>
          <p:nvPr/>
        </p:nvSpPr>
        <p:spPr>
          <a:xfrm>
            <a:off x="8183880" y="395020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8595360" y="393192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8595360" y="395020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9006840" y="393192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9006840" y="395020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9418320" y="393192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9418320" y="395020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9829800" y="3931920"/>
            <a:ext cx="41148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9829800" y="395020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10241280" y="3931920"/>
            <a:ext cx="54864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10241280" y="3950208"/>
            <a:ext cx="54864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10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10789920" y="3931920"/>
            <a:ext cx="685800" cy="274320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10789920" y="3950208"/>
            <a:ext cx="6858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🟢 优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320040" y="4206240"/>
            <a:ext cx="36576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320040" y="4224528"/>
            <a:ext cx="36576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12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685800" y="4206240"/>
            <a:ext cx="548640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685800" y="4224528"/>
            <a:ext cx="54864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YaHei"/>
              </a:rPr>
              <a:t>metavisor/metadata_enhancer/profile_prompts.py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6172200" y="4206240"/>
            <a:ext cx="6400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6172200" y="4224528"/>
            <a:ext cx="6400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YaHei"/>
              </a:rPr>
              <a:t>246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6812280" y="4206240"/>
            <a:ext cx="45720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6812280" y="4224528"/>
            <a:ext cx="4572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7269480" y="4206240"/>
            <a:ext cx="50292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TextBox 323"/>
          <p:cNvSpPr txBox="1"/>
          <p:nvPr/>
        </p:nvSpPr>
        <p:spPr>
          <a:xfrm>
            <a:off x="7269480" y="4224528"/>
            <a:ext cx="50292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0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7772400" y="420624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7772400" y="422452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8183880" y="420624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8183880" y="422452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8595360" y="420624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TextBox 329"/>
          <p:cNvSpPr txBox="1"/>
          <p:nvPr/>
        </p:nvSpPr>
        <p:spPr>
          <a:xfrm>
            <a:off x="8595360" y="422452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9006840" y="420624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9006840" y="422452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9418320" y="420624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TextBox 333"/>
          <p:cNvSpPr txBox="1"/>
          <p:nvPr/>
        </p:nvSpPr>
        <p:spPr>
          <a:xfrm>
            <a:off x="9418320" y="422452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0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9829800" y="420624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9829800" y="422452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10241280" y="4206240"/>
            <a:ext cx="54864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TextBox 337"/>
          <p:cNvSpPr txBox="1"/>
          <p:nvPr/>
        </p:nvSpPr>
        <p:spPr>
          <a:xfrm>
            <a:off x="10241280" y="4224528"/>
            <a:ext cx="54864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9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10789920" y="4206240"/>
            <a:ext cx="68580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10789920" y="4224528"/>
            <a:ext cx="6858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🟡 中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320040" y="4480560"/>
            <a:ext cx="36576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TextBox 341"/>
          <p:cNvSpPr txBox="1"/>
          <p:nvPr/>
        </p:nvSpPr>
        <p:spPr>
          <a:xfrm>
            <a:off x="320040" y="4498848"/>
            <a:ext cx="36576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13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685800" y="4480560"/>
            <a:ext cx="548640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TextBox 343"/>
          <p:cNvSpPr txBox="1"/>
          <p:nvPr/>
        </p:nvSpPr>
        <p:spPr>
          <a:xfrm>
            <a:off x="685800" y="4498848"/>
            <a:ext cx="54864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YaHei"/>
              </a:rPr>
              <a:t>metavisor/client/api/advanced_search.py</a:t>
            </a:r>
          </a:p>
        </p:txBody>
      </p:sp>
      <p:sp>
        <p:nvSpPr>
          <p:cNvPr id="345" name="Rectangle 344"/>
          <p:cNvSpPr/>
          <p:nvPr/>
        </p:nvSpPr>
        <p:spPr>
          <a:xfrm>
            <a:off x="6172200" y="4480560"/>
            <a:ext cx="6400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TextBox 345"/>
          <p:cNvSpPr txBox="1"/>
          <p:nvPr/>
        </p:nvSpPr>
        <p:spPr>
          <a:xfrm>
            <a:off x="6172200" y="4498848"/>
            <a:ext cx="6400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YaHei"/>
              </a:rPr>
              <a:t>344</a:t>
            </a:r>
          </a:p>
        </p:txBody>
      </p:sp>
      <p:sp>
        <p:nvSpPr>
          <p:cNvPr id="347" name="Rectangle 346"/>
          <p:cNvSpPr/>
          <p:nvPr/>
        </p:nvSpPr>
        <p:spPr>
          <a:xfrm>
            <a:off x="6812280" y="4480560"/>
            <a:ext cx="45720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6812280" y="4498848"/>
            <a:ext cx="4572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</a:t>
            </a:r>
          </a:p>
        </p:txBody>
      </p:sp>
      <p:sp>
        <p:nvSpPr>
          <p:cNvPr id="349" name="Rectangle 348"/>
          <p:cNvSpPr/>
          <p:nvPr/>
        </p:nvSpPr>
        <p:spPr>
          <a:xfrm>
            <a:off x="7269480" y="4480560"/>
            <a:ext cx="50292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TextBox 349"/>
          <p:cNvSpPr txBox="1"/>
          <p:nvPr/>
        </p:nvSpPr>
        <p:spPr>
          <a:xfrm>
            <a:off x="7269480" y="4498848"/>
            <a:ext cx="50292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6</a:t>
            </a:r>
          </a:p>
        </p:txBody>
      </p:sp>
      <p:sp>
        <p:nvSpPr>
          <p:cNvPr id="351" name="Rectangle 350"/>
          <p:cNvSpPr/>
          <p:nvPr/>
        </p:nvSpPr>
        <p:spPr>
          <a:xfrm>
            <a:off x="7772400" y="448056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7772400" y="449884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</a:t>
            </a:r>
          </a:p>
        </p:txBody>
      </p:sp>
      <p:sp>
        <p:nvSpPr>
          <p:cNvPr id="353" name="Rectangle 352"/>
          <p:cNvSpPr/>
          <p:nvPr/>
        </p:nvSpPr>
        <p:spPr>
          <a:xfrm>
            <a:off x="8183880" y="448056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TextBox 353"/>
          <p:cNvSpPr txBox="1"/>
          <p:nvPr/>
        </p:nvSpPr>
        <p:spPr>
          <a:xfrm>
            <a:off x="8183880" y="449884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355" name="Rectangle 354"/>
          <p:cNvSpPr/>
          <p:nvPr/>
        </p:nvSpPr>
        <p:spPr>
          <a:xfrm>
            <a:off x="8595360" y="448056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8595360" y="449884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357" name="Rectangle 356"/>
          <p:cNvSpPr/>
          <p:nvPr/>
        </p:nvSpPr>
        <p:spPr>
          <a:xfrm>
            <a:off x="9006840" y="448056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TextBox 357"/>
          <p:cNvSpPr txBox="1"/>
          <p:nvPr/>
        </p:nvSpPr>
        <p:spPr>
          <a:xfrm>
            <a:off x="9006840" y="449884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0</a:t>
            </a:r>
          </a:p>
        </p:txBody>
      </p:sp>
      <p:sp>
        <p:nvSpPr>
          <p:cNvPr id="359" name="Rectangle 358"/>
          <p:cNvSpPr/>
          <p:nvPr/>
        </p:nvSpPr>
        <p:spPr>
          <a:xfrm>
            <a:off x="9418320" y="448056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9418320" y="449884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361" name="Rectangle 360"/>
          <p:cNvSpPr/>
          <p:nvPr/>
        </p:nvSpPr>
        <p:spPr>
          <a:xfrm>
            <a:off x="9829800" y="448056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TextBox 361"/>
          <p:cNvSpPr txBox="1"/>
          <p:nvPr/>
        </p:nvSpPr>
        <p:spPr>
          <a:xfrm>
            <a:off x="9829800" y="449884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363" name="Rectangle 362"/>
          <p:cNvSpPr/>
          <p:nvPr/>
        </p:nvSpPr>
        <p:spPr>
          <a:xfrm>
            <a:off x="10241280" y="4480560"/>
            <a:ext cx="54864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TextBox 363"/>
          <p:cNvSpPr txBox="1"/>
          <p:nvPr/>
        </p:nvSpPr>
        <p:spPr>
          <a:xfrm>
            <a:off x="10241280" y="4498848"/>
            <a:ext cx="54864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9</a:t>
            </a:r>
          </a:p>
        </p:txBody>
      </p:sp>
      <p:sp>
        <p:nvSpPr>
          <p:cNvPr id="365" name="Rectangle 364"/>
          <p:cNvSpPr/>
          <p:nvPr/>
        </p:nvSpPr>
        <p:spPr>
          <a:xfrm>
            <a:off x="10789920" y="4480560"/>
            <a:ext cx="68580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TextBox 365"/>
          <p:cNvSpPr txBox="1"/>
          <p:nvPr/>
        </p:nvSpPr>
        <p:spPr>
          <a:xfrm>
            <a:off x="10789920" y="4498848"/>
            <a:ext cx="6858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🟡 中</a:t>
            </a:r>
          </a:p>
        </p:txBody>
      </p:sp>
      <p:sp>
        <p:nvSpPr>
          <p:cNvPr id="367" name="Rectangle 366"/>
          <p:cNvSpPr/>
          <p:nvPr/>
        </p:nvSpPr>
        <p:spPr>
          <a:xfrm>
            <a:off x="320040" y="4754880"/>
            <a:ext cx="36576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TextBox 367"/>
          <p:cNvSpPr txBox="1"/>
          <p:nvPr/>
        </p:nvSpPr>
        <p:spPr>
          <a:xfrm>
            <a:off x="320040" y="4773168"/>
            <a:ext cx="36576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14</a:t>
            </a:r>
          </a:p>
        </p:txBody>
      </p:sp>
      <p:sp>
        <p:nvSpPr>
          <p:cNvPr id="369" name="Rectangle 368"/>
          <p:cNvSpPr/>
          <p:nvPr/>
        </p:nvSpPr>
        <p:spPr>
          <a:xfrm>
            <a:off x="685800" y="4754880"/>
            <a:ext cx="548640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TextBox 369"/>
          <p:cNvSpPr txBox="1"/>
          <p:nvPr/>
        </p:nvSpPr>
        <p:spPr>
          <a:xfrm>
            <a:off x="685800" y="4773168"/>
            <a:ext cx="54864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YaHei"/>
              </a:rPr>
              <a:t>metavisor/adapters/udn/basic/sinks/relationship_sink.py</a:t>
            </a:r>
          </a:p>
        </p:txBody>
      </p:sp>
      <p:sp>
        <p:nvSpPr>
          <p:cNvPr id="371" name="Rectangle 370"/>
          <p:cNvSpPr/>
          <p:nvPr/>
        </p:nvSpPr>
        <p:spPr>
          <a:xfrm>
            <a:off x="6172200" y="4754880"/>
            <a:ext cx="6400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TextBox 371"/>
          <p:cNvSpPr txBox="1"/>
          <p:nvPr/>
        </p:nvSpPr>
        <p:spPr>
          <a:xfrm>
            <a:off x="6172200" y="4773168"/>
            <a:ext cx="6400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YaHei"/>
              </a:rPr>
              <a:t>5</a:t>
            </a:r>
          </a:p>
        </p:txBody>
      </p:sp>
      <p:sp>
        <p:nvSpPr>
          <p:cNvPr id="373" name="Rectangle 372"/>
          <p:cNvSpPr/>
          <p:nvPr/>
        </p:nvSpPr>
        <p:spPr>
          <a:xfrm>
            <a:off x="6812280" y="4754880"/>
            <a:ext cx="45720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TextBox 373"/>
          <p:cNvSpPr txBox="1"/>
          <p:nvPr/>
        </p:nvSpPr>
        <p:spPr>
          <a:xfrm>
            <a:off x="6812280" y="4773168"/>
            <a:ext cx="4572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0</a:t>
            </a:r>
          </a:p>
        </p:txBody>
      </p:sp>
      <p:sp>
        <p:nvSpPr>
          <p:cNvPr id="375" name="Rectangle 374"/>
          <p:cNvSpPr/>
          <p:nvPr/>
        </p:nvSpPr>
        <p:spPr>
          <a:xfrm>
            <a:off x="7269480" y="4754880"/>
            <a:ext cx="50292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TextBox 375"/>
          <p:cNvSpPr txBox="1"/>
          <p:nvPr/>
        </p:nvSpPr>
        <p:spPr>
          <a:xfrm>
            <a:off x="7269480" y="4773168"/>
            <a:ext cx="50292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0</a:t>
            </a:r>
          </a:p>
        </p:txBody>
      </p:sp>
      <p:sp>
        <p:nvSpPr>
          <p:cNvPr id="377" name="Rectangle 376"/>
          <p:cNvSpPr/>
          <p:nvPr/>
        </p:nvSpPr>
        <p:spPr>
          <a:xfrm>
            <a:off x="7772400" y="475488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TextBox 377"/>
          <p:cNvSpPr txBox="1"/>
          <p:nvPr/>
        </p:nvSpPr>
        <p:spPr>
          <a:xfrm>
            <a:off x="7772400" y="477316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379" name="Rectangle 378"/>
          <p:cNvSpPr/>
          <p:nvPr/>
        </p:nvSpPr>
        <p:spPr>
          <a:xfrm>
            <a:off x="8183880" y="475488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TextBox 379"/>
          <p:cNvSpPr txBox="1"/>
          <p:nvPr/>
        </p:nvSpPr>
        <p:spPr>
          <a:xfrm>
            <a:off x="8183880" y="477316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0</a:t>
            </a:r>
          </a:p>
        </p:txBody>
      </p:sp>
      <p:sp>
        <p:nvSpPr>
          <p:cNvPr id="381" name="Rectangle 380"/>
          <p:cNvSpPr/>
          <p:nvPr/>
        </p:nvSpPr>
        <p:spPr>
          <a:xfrm>
            <a:off x="8595360" y="475488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TextBox 381"/>
          <p:cNvSpPr txBox="1"/>
          <p:nvPr/>
        </p:nvSpPr>
        <p:spPr>
          <a:xfrm>
            <a:off x="8595360" y="477316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383" name="Rectangle 382"/>
          <p:cNvSpPr/>
          <p:nvPr/>
        </p:nvSpPr>
        <p:spPr>
          <a:xfrm>
            <a:off x="9006840" y="475488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TextBox 383"/>
          <p:cNvSpPr txBox="1"/>
          <p:nvPr/>
        </p:nvSpPr>
        <p:spPr>
          <a:xfrm>
            <a:off x="9006840" y="477316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385" name="Rectangle 384"/>
          <p:cNvSpPr/>
          <p:nvPr/>
        </p:nvSpPr>
        <p:spPr>
          <a:xfrm>
            <a:off x="9418320" y="475488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TextBox 385"/>
          <p:cNvSpPr txBox="1"/>
          <p:nvPr/>
        </p:nvSpPr>
        <p:spPr>
          <a:xfrm>
            <a:off x="9418320" y="477316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0</a:t>
            </a:r>
          </a:p>
        </p:txBody>
      </p:sp>
      <p:sp>
        <p:nvSpPr>
          <p:cNvPr id="387" name="Rectangle 386"/>
          <p:cNvSpPr/>
          <p:nvPr/>
        </p:nvSpPr>
        <p:spPr>
          <a:xfrm>
            <a:off x="9829800" y="475488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TextBox 387"/>
          <p:cNvSpPr txBox="1"/>
          <p:nvPr/>
        </p:nvSpPr>
        <p:spPr>
          <a:xfrm>
            <a:off x="9829800" y="477316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10241280" y="4754880"/>
            <a:ext cx="54864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TextBox 389"/>
          <p:cNvSpPr txBox="1"/>
          <p:nvPr/>
        </p:nvSpPr>
        <p:spPr>
          <a:xfrm>
            <a:off x="10241280" y="4773168"/>
            <a:ext cx="54864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8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10789920" y="4754880"/>
            <a:ext cx="68580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TextBox 391"/>
          <p:cNvSpPr txBox="1"/>
          <p:nvPr/>
        </p:nvSpPr>
        <p:spPr>
          <a:xfrm>
            <a:off x="10789920" y="4773168"/>
            <a:ext cx="6858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🟡 中</a:t>
            </a:r>
          </a:p>
        </p:txBody>
      </p:sp>
      <p:sp>
        <p:nvSpPr>
          <p:cNvPr id="393" name="Rectangle 392"/>
          <p:cNvSpPr/>
          <p:nvPr/>
        </p:nvSpPr>
        <p:spPr>
          <a:xfrm>
            <a:off x="320040" y="5029200"/>
            <a:ext cx="36576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TextBox 393"/>
          <p:cNvSpPr txBox="1"/>
          <p:nvPr/>
        </p:nvSpPr>
        <p:spPr>
          <a:xfrm>
            <a:off x="320040" y="5047488"/>
            <a:ext cx="36576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15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685800" y="5029200"/>
            <a:ext cx="548640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TextBox 395"/>
          <p:cNvSpPr txBox="1"/>
          <p:nvPr/>
        </p:nvSpPr>
        <p:spPr>
          <a:xfrm>
            <a:off x="685800" y="5047488"/>
            <a:ext cx="54864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YaHei"/>
              </a:rPr>
              <a:t>…c_construct/core/knowledge/augmentation/docarbor/retrieval.py</a:t>
            </a:r>
          </a:p>
        </p:txBody>
      </p:sp>
      <p:sp>
        <p:nvSpPr>
          <p:cNvPr id="397" name="Rectangle 396"/>
          <p:cNvSpPr/>
          <p:nvPr/>
        </p:nvSpPr>
        <p:spPr>
          <a:xfrm>
            <a:off x="6172200" y="5029200"/>
            <a:ext cx="6400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TextBox 397"/>
          <p:cNvSpPr txBox="1"/>
          <p:nvPr/>
        </p:nvSpPr>
        <p:spPr>
          <a:xfrm>
            <a:off x="6172200" y="5047488"/>
            <a:ext cx="6400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YaHei"/>
              </a:rPr>
              <a:t>244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6812280" y="5029200"/>
            <a:ext cx="45720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6812280" y="5047488"/>
            <a:ext cx="4572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0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7269480" y="5029200"/>
            <a:ext cx="50292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TextBox 401"/>
          <p:cNvSpPr txBox="1"/>
          <p:nvPr/>
        </p:nvSpPr>
        <p:spPr>
          <a:xfrm>
            <a:off x="7269480" y="5047488"/>
            <a:ext cx="50292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8</a:t>
            </a:r>
          </a:p>
        </p:txBody>
      </p:sp>
      <p:sp>
        <p:nvSpPr>
          <p:cNvPr id="403" name="Rectangle 402"/>
          <p:cNvSpPr/>
          <p:nvPr/>
        </p:nvSpPr>
        <p:spPr>
          <a:xfrm>
            <a:off x="7772400" y="502920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TextBox 403"/>
          <p:cNvSpPr txBox="1"/>
          <p:nvPr/>
        </p:nvSpPr>
        <p:spPr>
          <a:xfrm>
            <a:off x="7772400" y="504748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</a:t>
            </a:r>
          </a:p>
        </p:txBody>
      </p:sp>
      <p:sp>
        <p:nvSpPr>
          <p:cNvPr id="405" name="Rectangle 404"/>
          <p:cNvSpPr/>
          <p:nvPr/>
        </p:nvSpPr>
        <p:spPr>
          <a:xfrm>
            <a:off x="8183880" y="502920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TextBox 405"/>
          <p:cNvSpPr txBox="1"/>
          <p:nvPr/>
        </p:nvSpPr>
        <p:spPr>
          <a:xfrm>
            <a:off x="8183880" y="504748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0</a:t>
            </a:r>
          </a:p>
        </p:txBody>
      </p:sp>
      <p:sp>
        <p:nvSpPr>
          <p:cNvPr id="407" name="Rectangle 406"/>
          <p:cNvSpPr/>
          <p:nvPr/>
        </p:nvSpPr>
        <p:spPr>
          <a:xfrm>
            <a:off x="8595360" y="502920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TextBox 407"/>
          <p:cNvSpPr txBox="1"/>
          <p:nvPr/>
        </p:nvSpPr>
        <p:spPr>
          <a:xfrm>
            <a:off x="8595360" y="504748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409" name="Rectangle 408"/>
          <p:cNvSpPr/>
          <p:nvPr/>
        </p:nvSpPr>
        <p:spPr>
          <a:xfrm>
            <a:off x="9006840" y="502920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TextBox 409"/>
          <p:cNvSpPr txBox="1"/>
          <p:nvPr/>
        </p:nvSpPr>
        <p:spPr>
          <a:xfrm>
            <a:off x="9006840" y="504748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411" name="Rectangle 410"/>
          <p:cNvSpPr/>
          <p:nvPr/>
        </p:nvSpPr>
        <p:spPr>
          <a:xfrm>
            <a:off x="9418320" y="502920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9418320" y="504748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413" name="Rectangle 412"/>
          <p:cNvSpPr/>
          <p:nvPr/>
        </p:nvSpPr>
        <p:spPr>
          <a:xfrm>
            <a:off x="9829800" y="502920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TextBox 413"/>
          <p:cNvSpPr txBox="1"/>
          <p:nvPr/>
        </p:nvSpPr>
        <p:spPr>
          <a:xfrm>
            <a:off x="9829800" y="504748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</a:t>
            </a:r>
          </a:p>
        </p:txBody>
      </p:sp>
      <p:sp>
        <p:nvSpPr>
          <p:cNvPr id="415" name="Rectangle 414"/>
          <p:cNvSpPr/>
          <p:nvPr/>
        </p:nvSpPr>
        <p:spPr>
          <a:xfrm>
            <a:off x="10241280" y="5029200"/>
            <a:ext cx="54864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10241280" y="5047488"/>
            <a:ext cx="54864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8</a:t>
            </a:r>
          </a:p>
        </p:txBody>
      </p:sp>
      <p:sp>
        <p:nvSpPr>
          <p:cNvPr id="417" name="Rectangle 416"/>
          <p:cNvSpPr/>
          <p:nvPr/>
        </p:nvSpPr>
        <p:spPr>
          <a:xfrm>
            <a:off x="10789920" y="5029200"/>
            <a:ext cx="68580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10789920" y="5047488"/>
            <a:ext cx="6858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🟡 中</a:t>
            </a:r>
          </a:p>
        </p:txBody>
      </p:sp>
      <p:sp>
        <p:nvSpPr>
          <p:cNvPr id="419" name="Rectangle 418"/>
          <p:cNvSpPr/>
          <p:nvPr/>
        </p:nvSpPr>
        <p:spPr>
          <a:xfrm>
            <a:off x="320040" y="5303520"/>
            <a:ext cx="36576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TextBox 419"/>
          <p:cNvSpPr txBox="1"/>
          <p:nvPr/>
        </p:nvSpPr>
        <p:spPr>
          <a:xfrm>
            <a:off x="320040" y="5321808"/>
            <a:ext cx="36576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16</a:t>
            </a:r>
          </a:p>
        </p:txBody>
      </p:sp>
      <p:sp>
        <p:nvSpPr>
          <p:cNvPr id="421" name="Rectangle 420"/>
          <p:cNvSpPr/>
          <p:nvPr/>
        </p:nvSpPr>
        <p:spPr>
          <a:xfrm>
            <a:off x="685800" y="5303520"/>
            <a:ext cx="548640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TextBox 421"/>
          <p:cNvSpPr txBox="1"/>
          <p:nvPr/>
        </p:nvSpPr>
        <p:spPr>
          <a:xfrm>
            <a:off x="685800" y="5321808"/>
            <a:ext cx="54864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YaHei"/>
              </a:rPr>
              <a:t>metavisor/adapters/bird/common/artifacts.py</a:t>
            </a:r>
          </a:p>
        </p:txBody>
      </p:sp>
      <p:sp>
        <p:nvSpPr>
          <p:cNvPr id="423" name="Rectangle 422"/>
          <p:cNvSpPr/>
          <p:nvPr/>
        </p:nvSpPr>
        <p:spPr>
          <a:xfrm>
            <a:off x="6172200" y="5303520"/>
            <a:ext cx="6400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TextBox 423"/>
          <p:cNvSpPr txBox="1"/>
          <p:nvPr/>
        </p:nvSpPr>
        <p:spPr>
          <a:xfrm>
            <a:off x="6172200" y="5321808"/>
            <a:ext cx="6400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YaHei"/>
              </a:rPr>
              <a:t>35</a:t>
            </a:r>
          </a:p>
        </p:txBody>
      </p:sp>
      <p:sp>
        <p:nvSpPr>
          <p:cNvPr id="425" name="Rectangle 424"/>
          <p:cNvSpPr/>
          <p:nvPr/>
        </p:nvSpPr>
        <p:spPr>
          <a:xfrm>
            <a:off x="6812280" y="5303520"/>
            <a:ext cx="45720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TextBox 425"/>
          <p:cNvSpPr txBox="1"/>
          <p:nvPr/>
        </p:nvSpPr>
        <p:spPr>
          <a:xfrm>
            <a:off x="6812280" y="5321808"/>
            <a:ext cx="4572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0</a:t>
            </a:r>
          </a:p>
        </p:txBody>
      </p:sp>
      <p:sp>
        <p:nvSpPr>
          <p:cNvPr id="427" name="Rectangle 426"/>
          <p:cNvSpPr/>
          <p:nvPr/>
        </p:nvSpPr>
        <p:spPr>
          <a:xfrm>
            <a:off x="7269480" y="5303520"/>
            <a:ext cx="50292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TextBox 427"/>
          <p:cNvSpPr txBox="1"/>
          <p:nvPr/>
        </p:nvSpPr>
        <p:spPr>
          <a:xfrm>
            <a:off x="7269480" y="5321808"/>
            <a:ext cx="50292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429" name="Rectangle 428"/>
          <p:cNvSpPr/>
          <p:nvPr/>
        </p:nvSpPr>
        <p:spPr>
          <a:xfrm>
            <a:off x="7772400" y="530352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TextBox 429"/>
          <p:cNvSpPr txBox="1"/>
          <p:nvPr/>
        </p:nvSpPr>
        <p:spPr>
          <a:xfrm>
            <a:off x="7772400" y="532180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431" name="Rectangle 430"/>
          <p:cNvSpPr/>
          <p:nvPr/>
        </p:nvSpPr>
        <p:spPr>
          <a:xfrm>
            <a:off x="8183880" y="530352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TextBox 431"/>
          <p:cNvSpPr txBox="1"/>
          <p:nvPr/>
        </p:nvSpPr>
        <p:spPr>
          <a:xfrm>
            <a:off x="8183880" y="532180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0</a:t>
            </a:r>
          </a:p>
        </p:txBody>
      </p:sp>
      <p:sp>
        <p:nvSpPr>
          <p:cNvPr id="433" name="Rectangle 432"/>
          <p:cNvSpPr/>
          <p:nvPr/>
        </p:nvSpPr>
        <p:spPr>
          <a:xfrm>
            <a:off x="8595360" y="530352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TextBox 433"/>
          <p:cNvSpPr txBox="1"/>
          <p:nvPr/>
        </p:nvSpPr>
        <p:spPr>
          <a:xfrm>
            <a:off x="8595360" y="532180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435" name="Rectangle 434"/>
          <p:cNvSpPr/>
          <p:nvPr/>
        </p:nvSpPr>
        <p:spPr>
          <a:xfrm>
            <a:off x="9006840" y="530352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TextBox 435"/>
          <p:cNvSpPr txBox="1"/>
          <p:nvPr/>
        </p:nvSpPr>
        <p:spPr>
          <a:xfrm>
            <a:off x="9006840" y="532180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</a:t>
            </a:r>
          </a:p>
        </p:txBody>
      </p:sp>
      <p:sp>
        <p:nvSpPr>
          <p:cNvPr id="437" name="Rectangle 436"/>
          <p:cNvSpPr/>
          <p:nvPr/>
        </p:nvSpPr>
        <p:spPr>
          <a:xfrm>
            <a:off x="9418320" y="530352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TextBox 437"/>
          <p:cNvSpPr txBox="1"/>
          <p:nvPr/>
        </p:nvSpPr>
        <p:spPr>
          <a:xfrm>
            <a:off x="9418320" y="532180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</a:t>
            </a:r>
          </a:p>
        </p:txBody>
      </p:sp>
      <p:sp>
        <p:nvSpPr>
          <p:cNvPr id="439" name="Rectangle 438"/>
          <p:cNvSpPr/>
          <p:nvPr/>
        </p:nvSpPr>
        <p:spPr>
          <a:xfrm>
            <a:off x="9829800" y="530352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TextBox 439"/>
          <p:cNvSpPr txBox="1"/>
          <p:nvPr/>
        </p:nvSpPr>
        <p:spPr>
          <a:xfrm>
            <a:off x="9829800" y="532180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441" name="Rectangle 440"/>
          <p:cNvSpPr/>
          <p:nvPr/>
        </p:nvSpPr>
        <p:spPr>
          <a:xfrm>
            <a:off x="10241280" y="5303520"/>
            <a:ext cx="54864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TextBox 441"/>
          <p:cNvSpPr txBox="1"/>
          <p:nvPr/>
        </p:nvSpPr>
        <p:spPr>
          <a:xfrm>
            <a:off x="10241280" y="5321808"/>
            <a:ext cx="54864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8</a:t>
            </a:r>
          </a:p>
        </p:txBody>
      </p:sp>
      <p:sp>
        <p:nvSpPr>
          <p:cNvPr id="443" name="Rectangle 442"/>
          <p:cNvSpPr/>
          <p:nvPr/>
        </p:nvSpPr>
        <p:spPr>
          <a:xfrm>
            <a:off x="10789920" y="5303520"/>
            <a:ext cx="68580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TextBox 443"/>
          <p:cNvSpPr txBox="1"/>
          <p:nvPr/>
        </p:nvSpPr>
        <p:spPr>
          <a:xfrm>
            <a:off x="10789920" y="5321808"/>
            <a:ext cx="6858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🟡 中</a:t>
            </a:r>
          </a:p>
        </p:txBody>
      </p:sp>
      <p:sp>
        <p:nvSpPr>
          <p:cNvPr id="445" name="Rectangle 444"/>
          <p:cNvSpPr/>
          <p:nvPr/>
        </p:nvSpPr>
        <p:spPr>
          <a:xfrm>
            <a:off x="320040" y="5577840"/>
            <a:ext cx="36576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TextBox 445"/>
          <p:cNvSpPr txBox="1"/>
          <p:nvPr/>
        </p:nvSpPr>
        <p:spPr>
          <a:xfrm>
            <a:off x="320040" y="5596128"/>
            <a:ext cx="36576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17</a:t>
            </a:r>
          </a:p>
        </p:txBody>
      </p:sp>
      <p:sp>
        <p:nvSpPr>
          <p:cNvPr id="447" name="Rectangle 446"/>
          <p:cNvSpPr/>
          <p:nvPr/>
        </p:nvSpPr>
        <p:spPr>
          <a:xfrm>
            <a:off x="685800" y="5577840"/>
            <a:ext cx="548640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TextBox 447"/>
          <p:cNvSpPr txBox="1"/>
          <p:nvPr/>
        </p:nvSpPr>
        <p:spPr>
          <a:xfrm>
            <a:off x="685800" y="5596128"/>
            <a:ext cx="54864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YaHei"/>
              </a:rPr>
              <a:t>…knowledge/omniextractor/doc/common/output/paginated_writer.py</a:t>
            </a:r>
          </a:p>
        </p:txBody>
      </p:sp>
      <p:sp>
        <p:nvSpPr>
          <p:cNvPr id="449" name="Rectangle 448"/>
          <p:cNvSpPr/>
          <p:nvPr/>
        </p:nvSpPr>
        <p:spPr>
          <a:xfrm>
            <a:off x="6172200" y="5577840"/>
            <a:ext cx="6400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TextBox 449"/>
          <p:cNvSpPr txBox="1"/>
          <p:nvPr/>
        </p:nvSpPr>
        <p:spPr>
          <a:xfrm>
            <a:off x="6172200" y="5596128"/>
            <a:ext cx="6400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YaHei"/>
              </a:rPr>
              <a:t>124</a:t>
            </a:r>
          </a:p>
        </p:txBody>
      </p:sp>
      <p:sp>
        <p:nvSpPr>
          <p:cNvPr id="451" name="Rectangle 450"/>
          <p:cNvSpPr/>
          <p:nvPr/>
        </p:nvSpPr>
        <p:spPr>
          <a:xfrm>
            <a:off x="6812280" y="5577840"/>
            <a:ext cx="45720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TextBox 451"/>
          <p:cNvSpPr txBox="1"/>
          <p:nvPr/>
        </p:nvSpPr>
        <p:spPr>
          <a:xfrm>
            <a:off x="6812280" y="5596128"/>
            <a:ext cx="4572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0</a:t>
            </a:r>
          </a:p>
        </p:txBody>
      </p:sp>
      <p:sp>
        <p:nvSpPr>
          <p:cNvPr id="453" name="Rectangle 452"/>
          <p:cNvSpPr/>
          <p:nvPr/>
        </p:nvSpPr>
        <p:spPr>
          <a:xfrm>
            <a:off x="7269480" y="5577840"/>
            <a:ext cx="50292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TextBox 453"/>
          <p:cNvSpPr txBox="1"/>
          <p:nvPr/>
        </p:nvSpPr>
        <p:spPr>
          <a:xfrm>
            <a:off x="7269480" y="5596128"/>
            <a:ext cx="50292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</a:t>
            </a:r>
          </a:p>
        </p:txBody>
      </p:sp>
      <p:sp>
        <p:nvSpPr>
          <p:cNvPr id="455" name="Rectangle 454"/>
          <p:cNvSpPr/>
          <p:nvPr/>
        </p:nvSpPr>
        <p:spPr>
          <a:xfrm>
            <a:off x="7772400" y="557784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TextBox 455"/>
          <p:cNvSpPr txBox="1"/>
          <p:nvPr/>
        </p:nvSpPr>
        <p:spPr>
          <a:xfrm>
            <a:off x="7772400" y="559612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457" name="Rectangle 456"/>
          <p:cNvSpPr/>
          <p:nvPr/>
        </p:nvSpPr>
        <p:spPr>
          <a:xfrm>
            <a:off x="8183880" y="557784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TextBox 457"/>
          <p:cNvSpPr txBox="1"/>
          <p:nvPr/>
        </p:nvSpPr>
        <p:spPr>
          <a:xfrm>
            <a:off x="8183880" y="559612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0</a:t>
            </a:r>
          </a:p>
        </p:txBody>
      </p:sp>
      <p:sp>
        <p:nvSpPr>
          <p:cNvPr id="459" name="Rectangle 458"/>
          <p:cNvSpPr/>
          <p:nvPr/>
        </p:nvSpPr>
        <p:spPr>
          <a:xfrm>
            <a:off x="8595360" y="557784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TextBox 459"/>
          <p:cNvSpPr txBox="1"/>
          <p:nvPr/>
        </p:nvSpPr>
        <p:spPr>
          <a:xfrm>
            <a:off x="8595360" y="559612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</a:t>
            </a:r>
          </a:p>
        </p:txBody>
      </p:sp>
      <p:sp>
        <p:nvSpPr>
          <p:cNvPr id="461" name="Rectangle 460"/>
          <p:cNvSpPr/>
          <p:nvPr/>
        </p:nvSpPr>
        <p:spPr>
          <a:xfrm>
            <a:off x="9006840" y="557784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TextBox 461"/>
          <p:cNvSpPr txBox="1"/>
          <p:nvPr/>
        </p:nvSpPr>
        <p:spPr>
          <a:xfrm>
            <a:off x="9006840" y="559612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</a:t>
            </a:r>
          </a:p>
        </p:txBody>
      </p:sp>
      <p:sp>
        <p:nvSpPr>
          <p:cNvPr id="463" name="Rectangle 462"/>
          <p:cNvSpPr/>
          <p:nvPr/>
        </p:nvSpPr>
        <p:spPr>
          <a:xfrm>
            <a:off x="9418320" y="557784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TextBox 463"/>
          <p:cNvSpPr txBox="1"/>
          <p:nvPr/>
        </p:nvSpPr>
        <p:spPr>
          <a:xfrm>
            <a:off x="9418320" y="559612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465" name="Rectangle 464"/>
          <p:cNvSpPr/>
          <p:nvPr/>
        </p:nvSpPr>
        <p:spPr>
          <a:xfrm>
            <a:off x="9829800" y="557784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TextBox 465"/>
          <p:cNvSpPr txBox="1"/>
          <p:nvPr/>
        </p:nvSpPr>
        <p:spPr>
          <a:xfrm>
            <a:off x="9829800" y="559612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467" name="Rectangle 466"/>
          <p:cNvSpPr/>
          <p:nvPr/>
        </p:nvSpPr>
        <p:spPr>
          <a:xfrm>
            <a:off x="10241280" y="5577840"/>
            <a:ext cx="54864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TextBox 467"/>
          <p:cNvSpPr txBox="1"/>
          <p:nvPr/>
        </p:nvSpPr>
        <p:spPr>
          <a:xfrm>
            <a:off x="10241280" y="5596128"/>
            <a:ext cx="54864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8</a:t>
            </a:r>
          </a:p>
        </p:txBody>
      </p:sp>
      <p:sp>
        <p:nvSpPr>
          <p:cNvPr id="469" name="Rectangle 468"/>
          <p:cNvSpPr/>
          <p:nvPr/>
        </p:nvSpPr>
        <p:spPr>
          <a:xfrm>
            <a:off x="10789920" y="5577840"/>
            <a:ext cx="68580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TextBox 469"/>
          <p:cNvSpPr txBox="1"/>
          <p:nvPr/>
        </p:nvSpPr>
        <p:spPr>
          <a:xfrm>
            <a:off x="10789920" y="5596128"/>
            <a:ext cx="6858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🟡 中</a:t>
            </a:r>
          </a:p>
        </p:txBody>
      </p:sp>
      <p:sp>
        <p:nvSpPr>
          <p:cNvPr id="471" name="Rectangle 470"/>
          <p:cNvSpPr/>
          <p:nvPr/>
        </p:nvSpPr>
        <p:spPr>
          <a:xfrm>
            <a:off x="320040" y="5852160"/>
            <a:ext cx="36576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TextBox 471"/>
          <p:cNvSpPr txBox="1"/>
          <p:nvPr/>
        </p:nvSpPr>
        <p:spPr>
          <a:xfrm>
            <a:off x="320040" y="5870448"/>
            <a:ext cx="36576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18</a:t>
            </a:r>
          </a:p>
        </p:txBody>
      </p:sp>
      <p:sp>
        <p:nvSpPr>
          <p:cNvPr id="473" name="Rectangle 472"/>
          <p:cNvSpPr/>
          <p:nvPr/>
        </p:nvSpPr>
        <p:spPr>
          <a:xfrm>
            <a:off x="685800" y="5852160"/>
            <a:ext cx="548640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TextBox 473"/>
          <p:cNvSpPr txBox="1"/>
          <p:nvPr/>
        </p:nvSpPr>
        <p:spPr>
          <a:xfrm>
            <a:off x="685800" y="5870448"/>
            <a:ext cx="54864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YaHei"/>
              </a:rPr>
              <a:t>metavisor/adapters/bird/common/naming.py</a:t>
            </a:r>
          </a:p>
        </p:txBody>
      </p:sp>
      <p:sp>
        <p:nvSpPr>
          <p:cNvPr id="475" name="Rectangle 474"/>
          <p:cNvSpPr/>
          <p:nvPr/>
        </p:nvSpPr>
        <p:spPr>
          <a:xfrm>
            <a:off x="6172200" y="5852160"/>
            <a:ext cx="6400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TextBox 475"/>
          <p:cNvSpPr txBox="1"/>
          <p:nvPr/>
        </p:nvSpPr>
        <p:spPr>
          <a:xfrm>
            <a:off x="6172200" y="5870448"/>
            <a:ext cx="6400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YaHei"/>
              </a:rPr>
              <a:t>73</a:t>
            </a:r>
          </a:p>
        </p:txBody>
      </p:sp>
      <p:sp>
        <p:nvSpPr>
          <p:cNvPr id="477" name="Rectangle 476"/>
          <p:cNvSpPr/>
          <p:nvPr/>
        </p:nvSpPr>
        <p:spPr>
          <a:xfrm>
            <a:off x="6812280" y="5852160"/>
            <a:ext cx="45720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TextBox 477"/>
          <p:cNvSpPr txBox="1"/>
          <p:nvPr/>
        </p:nvSpPr>
        <p:spPr>
          <a:xfrm>
            <a:off x="6812280" y="5870448"/>
            <a:ext cx="4572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0</a:t>
            </a:r>
          </a:p>
        </p:txBody>
      </p:sp>
      <p:sp>
        <p:nvSpPr>
          <p:cNvPr id="479" name="Rectangle 478"/>
          <p:cNvSpPr/>
          <p:nvPr/>
        </p:nvSpPr>
        <p:spPr>
          <a:xfrm>
            <a:off x="7269480" y="5852160"/>
            <a:ext cx="50292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TextBox 479"/>
          <p:cNvSpPr txBox="1"/>
          <p:nvPr/>
        </p:nvSpPr>
        <p:spPr>
          <a:xfrm>
            <a:off x="7269480" y="5870448"/>
            <a:ext cx="50292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7</a:t>
            </a:r>
          </a:p>
        </p:txBody>
      </p:sp>
      <p:sp>
        <p:nvSpPr>
          <p:cNvPr id="481" name="Rectangle 480"/>
          <p:cNvSpPr/>
          <p:nvPr/>
        </p:nvSpPr>
        <p:spPr>
          <a:xfrm>
            <a:off x="7772400" y="585216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TextBox 481"/>
          <p:cNvSpPr txBox="1"/>
          <p:nvPr/>
        </p:nvSpPr>
        <p:spPr>
          <a:xfrm>
            <a:off x="7772400" y="587044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483" name="Rectangle 482"/>
          <p:cNvSpPr/>
          <p:nvPr/>
        </p:nvSpPr>
        <p:spPr>
          <a:xfrm>
            <a:off x="8183880" y="585216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TextBox 483"/>
          <p:cNvSpPr txBox="1"/>
          <p:nvPr/>
        </p:nvSpPr>
        <p:spPr>
          <a:xfrm>
            <a:off x="8183880" y="587044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0</a:t>
            </a:r>
          </a:p>
        </p:txBody>
      </p:sp>
      <p:sp>
        <p:nvSpPr>
          <p:cNvPr id="485" name="Rectangle 484"/>
          <p:cNvSpPr/>
          <p:nvPr/>
        </p:nvSpPr>
        <p:spPr>
          <a:xfrm>
            <a:off x="8595360" y="585216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TextBox 485"/>
          <p:cNvSpPr txBox="1"/>
          <p:nvPr/>
        </p:nvSpPr>
        <p:spPr>
          <a:xfrm>
            <a:off x="8595360" y="587044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487" name="Rectangle 486"/>
          <p:cNvSpPr/>
          <p:nvPr/>
        </p:nvSpPr>
        <p:spPr>
          <a:xfrm>
            <a:off x="9006840" y="585216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TextBox 487"/>
          <p:cNvSpPr txBox="1"/>
          <p:nvPr/>
        </p:nvSpPr>
        <p:spPr>
          <a:xfrm>
            <a:off x="9006840" y="587044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0</a:t>
            </a:r>
          </a:p>
        </p:txBody>
      </p:sp>
      <p:sp>
        <p:nvSpPr>
          <p:cNvPr id="489" name="Rectangle 488"/>
          <p:cNvSpPr/>
          <p:nvPr/>
        </p:nvSpPr>
        <p:spPr>
          <a:xfrm>
            <a:off x="9418320" y="585216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TextBox 489"/>
          <p:cNvSpPr txBox="1"/>
          <p:nvPr/>
        </p:nvSpPr>
        <p:spPr>
          <a:xfrm>
            <a:off x="9418320" y="587044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</a:t>
            </a:r>
          </a:p>
        </p:txBody>
      </p:sp>
      <p:sp>
        <p:nvSpPr>
          <p:cNvPr id="491" name="Rectangle 490"/>
          <p:cNvSpPr/>
          <p:nvPr/>
        </p:nvSpPr>
        <p:spPr>
          <a:xfrm>
            <a:off x="9829800" y="5852160"/>
            <a:ext cx="41148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TextBox 491"/>
          <p:cNvSpPr txBox="1"/>
          <p:nvPr/>
        </p:nvSpPr>
        <p:spPr>
          <a:xfrm>
            <a:off x="9829800" y="587044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493" name="Rectangle 492"/>
          <p:cNvSpPr/>
          <p:nvPr/>
        </p:nvSpPr>
        <p:spPr>
          <a:xfrm>
            <a:off x="10241280" y="5852160"/>
            <a:ext cx="54864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TextBox 493"/>
          <p:cNvSpPr txBox="1"/>
          <p:nvPr/>
        </p:nvSpPr>
        <p:spPr>
          <a:xfrm>
            <a:off x="10241280" y="5870448"/>
            <a:ext cx="54864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7</a:t>
            </a:r>
          </a:p>
        </p:txBody>
      </p:sp>
      <p:sp>
        <p:nvSpPr>
          <p:cNvPr id="495" name="Rectangle 494"/>
          <p:cNvSpPr/>
          <p:nvPr/>
        </p:nvSpPr>
        <p:spPr>
          <a:xfrm>
            <a:off x="10789920" y="5852160"/>
            <a:ext cx="685800" cy="274320"/>
          </a:xfrm>
          <a:prstGeom prst="rect">
            <a:avLst/>
          </a:prstGeom>
          <a:solidFill>
            <a:srgbClr val="FEFCE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TextBox 495"/>
          <p:cNvSpPr txBox="1"/>
          <p:nvPr/>
        </p:nvSpPr>
        <p:spPr>
          <a:xfrm>
            <a:off x="10789920" y="5870448"/>
            <a:ext cx="6858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🟡 中</a:t>
            </a:r>
          </a:p>
        </p:txBody>
      </p:sp>
      <p:sp>
        <p:nvSpPr>
          <p:cNvPr id="497" name="Rectangle 496"/>
          <p:cNvSpPr/>
          <p:nvPr/>
        </p:nvSpPr>
        <p:spPr>
          <a:xfrm>
            <a:off x="320040" y="6126480"/>
            <a:ext cx="36576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TextBox 497"/>
          <p:cNvSpPr txBox="1"/>
          <p:nvPr/>
        </p:nvSpPr>
        <p:spPr>
          <a:xfrm>
            <a:off x="320040" y="6144768"/>
            <a:ext cx="36576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19</a:t>
            </a:r>
          </a:p>
        </p:txBody>
      </p:sp>
      <p:sp>
        <p:nvSpPr>
          <p:cNvPr id="499" name="Rectangle 498"/>
          <p:cNvSpPr/>
          <p:nvPr/>
        </p:nvSpPr>
        <p:spPr>
          <a:xfrm>
            <a:off x="685800" y="6126480"/>
            <a:ext cx="548640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TextBox 499"/>
          <p:cNvSpPr txBox="1"/>
          <p:nvPr/>
        </p:nvSpPr>
        <p:spPr>
          <a:xfrm>
            <a:off x="685800" y="6144768"/>
            <a:ext cx="54864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YaHei"/>
              </a:rPr>
              <a:t>…t/core/process_mining/process_mining/stage2_build_features.py</a:t>
            </a:r>
          </a:p>
        </p:txBody>
      </p:sp>
      <p:sp>
        <p:nvSpPr>
          <p:cNvPr id="501" name="Rectangle 500"/>
          <p:cNvSpPr/>
          <p:nvPr/>
        </p:nvSpPr>
        <p:spPr>
          <a:xfrm>
            <a:off x="6172200" y="6126480"/>
            <a:ext cx="64008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TextBox 501"/>
          <p:cNvSpPr txBox="1"/>
          <p:nvPr/>
        </p:nvSpPr>
        <p:spPr>
          <a:xfrm>
            <a:off x="6172200" y="6144768"/>
            <a:ext cx="6400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YaHei"/>
              </a:rPr>
              <a:t>559</a:t>
            </a:r>
          </a:p>
        </p:txBody>
      </p:sp>
      <p:sp>
        <p:nvSpPr>
          <p:cNvPr id="503" name="Rectangle 502"/>
          <p:cNvSpPr/>
          <p:nvPr/>
        </p:nvSpPr>
        <p:spPr>
          <a:xfrm>
            <a:off x="6812280" y="6126480"/>
            <a:ext cx="45720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TextBox 503"/>
          <p:cNvSpPr txBox="1"/>
          <p:nvPr/>
        </p:nvSpPr>
        <p:spPr>
          <a:xfrm>
            <a:off x="6812280" y="6144768"/>
            <a:ext cx="4572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0</a:t>
            </a:r>
          </a:p>
        </p:txBody>
      </p:sp>
      <p:sp>
        <p:nvSpPr>
          <p:cNvPr id="505" name="Rectangle 504"/>
          <p:cNvSpPr/>
          <p:nvPr/>
        </p:nvSpPr>
        <p:spPr>
          <a:xfrm>
            <a:off x="7269480" y="6126480"/>
            <a:ext cx="50292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TextBox 505"/>
          <p:cNvSpPr txBox="1"/>
          <p:nvPr/>
        </p:nvSpPr>
        <p:spPr>
          <a:xfrm>
            <a:off x="7269480" y="6144768"/>
            <a:ext cx="50292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7</a:t>
            </a:r>
          </a:p>
        </p:txBody>
      </p:sp>
      <p:sp>
        <p:nvSpPr>
          <p:cNvPr id="507" name="Rectangle 506"/>
          <p:cNvSpPr/>
          <p:nvPr/>
        </p:nvSpPr>
        <p:spPr>
          <a:xfrm>
            <a:off x="7772400" y="6126480"/>
            <a:ext cx="41148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TextBox 507"/>
          <p:cNvSpPr txBox="1"/>
          <p:nvPr/>
        </p:nvSpPr>
        <p:spPr>
          <a:xfrm>
            <a:off x="7772400" y="614476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0</a:t>
            </a:r>
          </a:p>
        </p:txBody>
      </p:sp>
      <p:sp>
        <p:nvSpPr>
          <p:cNvPr id="509" name="Rectangle 508"/>
          <p:cNvSpPr/>
          <p:nvPr/>
        </p:nvSpPr>
        <p:spPr>
          <a:xfrm>
            <a:off x="8183880" y="6126480"/>
            <a:ext cx="41148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TextBox 509"/>
          <p:cNvSpPr txBox="1"/>
          <p:nvPr/>
        </p:nvSpPr>
        <p:spPr>
          <a:xfrm>
            <a:off x="8183880" y="614476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0</a:t>
            </a:r>
          </a:p>
        </p:txBody>
      </p:sp>
      <p:sp>
        <p:nvSpPr>
          <p:cNvPr id="511" name="Rectangle 510"/>
          <p:cNvSpPr/>
          <p:nvPr/>
        </p:nvSpPr>
        <p:spPr>
          <a:xfrm>
            <a:off x="8595360" y="6126480"/>
            <a:ext cx="41148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TextBox 511"/>
          <p:cNvSpPr txBox="1"/>
          <p:nvPr/>
        </p:nvSpPr>
        <p:spPr>
          <a:xfrm>
            <a:off x="8595360" y="614476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1</a:t>
            </a:r>
          </a:p>
        </p:txBody>
      </p:sp>
      <p:sp>
        <p:nvSpPr>
          <p:cNvPr id="513" name="Rectangle 512"/>
          <p:cNvSpPr/>
          <p:nvPr/>
        </p:nvSpPr>
        <p:spPr>
          <a:xfrm>
            <a:off x="9006840" y="6126480"/>
            <a:ext cx="41148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TextBox 513"/>
          <p:cNvSpPr txBox="1"/>
          <p:nvPr/>
        </p:nvSpPr>
        <p:spPr>
          <a:xfrm>
            <a:off x="9006840" y="614476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0</a:t>
            </a:r>
          </a:p>
        </p:txBody>
      </p:sp>
      <p:sp>
        <p:nvSpPr>
          <p:cNvPr id="515" name="Rectangle 514"/>
          <p:cNvSpPr/>
          <p:nvPr/>
        </p:nvSpPr>
        <p:spPr>
          <a:xfrm>
            <a:off x="9418320" y="6126480"/>
            <a:ext cx="41148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TextBox 515"/>
          <p:cNvSpPr txBox="1"/>
          <p:nvPr/>
        </p:nvSpPr>
        <p:spPr>
          <a:xfrm>
            <a:off x="9418320" y="614476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517" name="Rectangle 516"/>
          <p:cNvSpPr/>
          <p:nvPr/>
        </p:nvSpPr>
        <p:spPr>
          <a:xfrm>
            <a:off x="9829800" y="6126480"/>
            <a:ext cx="41148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TextBox 517"/>
          <p:cNvSpPr txBox="1"/>
          <p:nvPr/>
        </p:nvSpPr>
        <p:spPr>
          <a:xfrm>
            <a:off x="9829800" y="614476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519" name="Rectangle 518"/>
          <p:cNvSpPr/>
          <p:nvPr/>
        </p:nvSpPr>
        <p:spPr>
          <a:xfrm>
            <a:off x="10241280" y="6126480"/>
            <a:ext cx="54864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TextBox 519"/>
          <p:cNvSpPr txBox="1"/>
          <p:nvPr/>
        </p:nvSpPr>
        <p:spPr>
          <a:xfrm>
            <a:off x="10241280" y="6144768"/>
            <a:ext cx="54864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5</a:t>
            </a:r>
          </a:p>
        </p:txBody>
      </p:sp>
      <p:sp>
        <p:nvSpPr>
          <p:cNvPr id="521" name="Rectangle 520"/>
          <p:cNvSpPr/>
          <p:nvPr/>
        </p:nvSpPr>
        <p:spPr>
          <a:xfrm>
            <a:off x="10789920" y="6126480"/>
            <a:ext cx="68580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TextBox 521"/>
          <p:cNvSpPr txBox="1"/>
          <p:nvPr/>
        </p:nvSpPr>
        <p:spPr>
          <a:xfrm>
            <a:off x="10789920" y="6144768"/>
            <a:ext cx="6858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🔴 差</a:t>
            </a:r>
          </a:p>
        </p:txBody>
      </p:sp>
      <p:sp>
        <p:nvSpPr>
          <p:cNvPr id="523" name="Rectangle 522"/>
          <p:cNvSpPr/>
          <p:nvPr/>
        </p:nvSpPr>
        <p:spPr>
          <a:xfrm>
            <a:off x="320040" y="6400800"/>
            <a:ext cx="36576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TextBox 523"/>
          <p:cNvSpPr txBox="1"/>
          <p:nvPr/>
        </p:nvSpPr>
        <p:spPr>
          <a:xfrm>
            <a:off x="320040" y="6419088"/>
            <a:ext cx="36576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20</a:t>
            </a:r>
          </a:p>
        </p:txBody>
      </p:sp>
      <p:sp>
        <p:nvSpPr>
          <p:cNvPr id="525" name="Rectangle 524"/>
          <p:cNvSpPr/>
          <p:nvPr/>
        </p:nvSpPr>
        <p:spPr>
          <a:xfrm>
            <a:off x="685800" y="6400800"/>
            <a:ext cx="548640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TextBox 525"/>
          <p:cNvSpPr txBox="1"/>
          <p:nvPr/>
        </p:nvSpPr>
        <p:spPr>
          <a:xfrm>
            <a:off x="685800" y="6419088"/>
            <a:ext cx="54864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YaHei"/>
              </a:rPr>
              <a:t>…mentation/docarbor/pdf_build_stage/native_backend/docarbor.py</a:t>
            </a:r>
          </a:p>
        </p:txBody>
      </p:sp>
      <p:sp>
        <p:nvSpPr>
          <p:cNvPr id="527" name="Rectangle 526"/>
          <p:cNvSpPr/>
          <p:nvPr/>
        </p:nvSpPr>
        <p:spPr>
          <a:xfrm>
            <a:off x="6172200" y="6400800"/>
            <a:ext cx="64008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TextBox 527"/>
          <p:cNvSpPr txBox="1"/>
          <p:nvPr/>
        </p:nvSpPr>
        <p:spPr>
          <a:xfrm>
            <a:off x="6172200" y="6419088"/>
            <a:ext cx="6400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YaHei"/>
              </a:rPr>
              <a:t>1389</a:t>
            </a:r>
          </a:p>
        </p:txBody>
      </p:sp>
      <p:sp>
        <p:nvSpPr>
          <p:cNvPr id="529" name="Rectangle 528"/>
          <p:cNvSpPr/>
          <p:nvPr/>
        </p:nvSpPr>
        <p:spPr>
          <a:xfrm>
            <a:off x="6812280" y="6400800"/>
            <a:ext cx="45720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TextBox 529"/>
          <p:cNvSpPr txBox="1"/>
          <p:nvPr/>
        </p:nvSpPr>
        <p:spPr>
          <a:xfrm>
            <a:off x="6812280" y="6419088"/>
            <a:ext cx="4572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0</a:t>
            </a:r>
          </a:p>
        </p:txBody>
      </p:sp>
      <p:sp>
        <p:nvSpPr>
          <p:cNvPr id="531" name="Rectangle 530"/>
          <p:cNvSpPr/>
          <p:nvPr/>
        </p:nvSpPr>
        <p:spPr>
          <a:xfrm>
            <a:off x="7269480" y="6400800"/>
            <a:ext cx="50292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TextBox 531"/>
          <p:cNvSpPr txBox="1"/>
          <p:nvPr/>
        </p:nvSpPr>
        <p:spPr>
          <a:xfrm>
            <a:off x="7269480" y="6419088"/>
            <a:ext cx="50292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39</a:t>
            </a:r>
          </a:p>
        </p:txBody>
      </p:sp>
      <p:sp>
        <p:nvSpPr>
          <p:cNvPr id="533" name="Rectangle 532"/>
          <p:cNvSpPr/>
          <p:nvPr/>
        </p:nvSpPr>
        <p:spPr>
          <a:xfrm>
            <a:off x="7772400" y="6400800"/>
            <a:ext cx="41148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TextBox 533"/>
          <p:cNvSpPr txBox="1"/>
          <p:nvPr/>
        </p:nvSpPr>
        <p:spPr>
          <a:xfrm>
            <a:off x="7772400" y="641908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0</a:t>
            </a:r>
          </a:p>
        </p:txBody>
      </p:sp>
      <p:sp>
        <p:nvSpPr>
          <p:cNvPr id="535" name="Rectangle 534"/>
          <p:cNvSpPr/>
          <p:nvPr/>
        </p:nvSpPr>
        <p:spPr>
          <a:xfrm>
            <a:off x="8183880" y="6400800"/>
            <a:ext cx="41148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TextBox 535"/>
          <p:cNvSpPr txBox="1"/>
          <p:nvPr/>
        </p:nvSpPr>
        <p:spPr>
          <a:xfrm>
            <a:off x="8183880" y="641908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0</a:t>
            </a:r>
          </a:p>
        </p:txBody>
      </p:sp>
      <p:sp>
        <p:nvSpPr>
          <p:cNvPr id="537" name="Rectangle 536"/>
          <p:cNvSpPr/>
          <p:nvPr/>
        </p:nvSpPr>
        <p:spPr>
          <a:xfrm>
            <a:off x="8595360" y="6400800"/>
            <a:ext cx="41148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TextBox 537"/>
          <p:cNvSpPr txBox="1"/>
          <p:nvPr/>
        </p:nvSpPr>
        <p:spPr>
          <a:xfrm>
            <a:off x="8595360" y="641908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0</a:t>
            </a:r>
          </a:p>
        </p:txBody>
      </p:sp>
      <p:sp>
        <p:nvSpPr>
          <p:cNvPr id="539" name="Rectangle 538"/>
          <p:cNvSpPr/>
          <p:nvPr/>
        </p:nvSpPr>
        <p:spPr>
          <a:xfrm>
            <a:off x="9006840" y="6400800"/>
            <a:ext cx="41148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TextBox 539"/>
          <p:cNvSpPr txBox="1"/>
          <p:nvPr/>
        </p:nvSpPr>
        <p:spPr>
          <a:xfrm>
            <a:off x="9006840" y="641908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0</a:t>
            </a:r>
          </a:p>
        </p:txBody>
      </p:sp>
      <p:sp>
        <p:nvSpPr>
          <p:cNvPr id="541" name="Rectangle 540"/>
          <p:cNvSpPr/>
          <p:nvPr/>
        </p:nvSpPr>
        <p:spPr>
          <a:xfrm>
            <a:off x="9418320" y="6400800"/>
            <a:ext cx="41148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TextBox 541"/>
          <p:cNvSpPr txBox="1"/>
          <p:nvPr/>
        </p:nvSpPr>
        <p:spPr>
          <a:xfrm>
            <a:off x="9418320" y="641908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543" name="Rectangle 542"/>
          <p:cNvSpPr/>
          <p:nvPr/>
        </p:nvSpPr>
        <p:spPr>
          <a:xfrm>
            <a:off x="9829800" y="6400800"/>
            <a:ext cx="41148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TextBox 543"/>
          <p:cNvSpPr txBox="1"/>
          <p:nvPr/>
        </p:nvSpPr>
        <p:spPr>
          <a:xfrm>
            <a:off x="9829800" y="6419088"/>
            <a:ext cx="41148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2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10241280" y="6400800"/>
            <a:ext cx="54864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10241280" y="6419088"/>
            <a:ext cx="54864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4</a:t>
            </a:r>
          </a:p>
        </p:txBody>
      </p:sp>
      <p:sp>
        <p:nvSpPr>
          <p:cNvPr id="547" name="Rectangle 546"/>
          <p:cNvSpPr/>
          <p:nvPr/>
        </p:nvSpPr>
        <p:spPr>
          <a:xfrm>
            <a:off x="10789920" y="6400800"/>
            <a:ext cx="685800" cy="27432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TextBox 547"/>
          <p:cNvSpPr txBox="1"/>
          <p:nvPr/>
        </p:nvSpPr>
        <p:spPr>
          <a:xfrm>
            <a:off x="10789920" y="6419088"/>
            <a:ext cx="685800" cy="274320"/>
          </a:xfrm>
          <a:prstGeom prst="rect">
            <a:avLst/>
          </a:prstGeom>
          <a:noFill/>
        </p:spPr>
        <p:txBody>
          <a:bodyPr wrap="square" lIns="36000" rIns="36000" tIns="14000" bIns="14000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</a:rPr>
              <a:t>🔴 差</a:t>
            </a:r>
          </a:p>
        </p:txBody>
      </p:sp>
      <p:sp>
        <p:nvSpPr>
          <p:cNvPr id="549" name="Rounded Rectangle 548"/>
          <p:cNvSpPr/>
          <p:nvPr/>
        </p:nvSpPr>
        <p:spPr>
          <a:xfrm>
            <a:off x="320040" y="6446520"/>
            <a:ext cx="11521440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4000" bIns="14000"/>
          <a:lstStyle/>
          <a:p>
            <a:pPr algn="ctr"/>
            <a:r>
              <a:rPr sz="900" b="0">
                <a:solidFill>
                  <a:srgbClr val="475569"/>
                </a:solidFill>
                <a:latin typeface="Microsoft YaHei"/>
              </a:rPr>
              <a:t>🟢 优 (≥10/12) 11 个  ·  🟡 中 (6-9/12) 7 个  ·  🔴 差 (&lt;6/12) 2 个   |   S1文件 S2类聚焦 S3函数 S4接口 S5Docstring S6依赖  (每项 0-2 分)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